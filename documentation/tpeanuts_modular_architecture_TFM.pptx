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1bea7faf2a14b25" /><Relationship Type="http://schemas.openxmlformats.org/officeDocument/2006/relationships/extended-properties" Target="/docProps/app.xml" Id="Rbb8c68728b274a16" /><Relationship Type="http://schemas.openxmlformats.org/officeDocument/2006/relationships/officeDocument" Target="/ppt/presentation.xml" Id="R8bb48f14f2264fa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1ebc114ed024f16"/>
  </p:sldMasterIdLst>
  <p:notesMasterIdLst>
    <p:notesMasterId xmlns:r="http://schemas.openxmlformats.org/officeDocument/2006/relationships" r:id="Rc38308f537dc4c1b"/>
  </p:notesMasterIdLst>
  <p:sldIdLst>
    <p:sldId xmlns:r="http://schemas.openxmlformats.org/officeDocument/2006/relationships" id="256" r:id="Rb92dbc85a1b54e4b"/>
    <p:sldId xmlns:r="http://schemas.openxmlformats.org/officeDocument/2006/relationships" id="257" r:id="R1ca7cfb073d442b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48e401cbca549cb" /><Relationship Type="http://schemas.openxmlformats.org/officeDocument/2006/relationships/slideMaster" Target="/ppt/slideMasters/slideMaster1.xml" Id="R71ebc114ed024f16" /><Relationship Type="http://schemas.openxmlformats.org/officeDocument/2006/relationships/notesMaster" Target="/ppt/notesMasters/notesMaster1.xml" Id="Rc38308f537dc4c1b" /><Relationship Type="http://schemas.openxmlformats.org/officeDocument/2006/relationships/presProps" Target="/ppt/presProps.xml" Id="R844528290845498c" /><Relationship Type="http://schemas.openxmlformats.org/officeDocument/2006/relationships/tableStyles" Target="/ppt/tableStyles.xml" Id="R366eaf802f5b4e9f" /><Relationship Type="http://schemas.openxmlformats.org/officeDocument/2006/relationships/slide" Target="/ppt/slides/slide1.xml" Id="Rb92dbc85a1b54e4b" /><Relationship Type="http://schemas.openxmlformats.org/officeDocument/2006/relationships/slide" Target="/ppt/slides/slide2.xml" Id="R1ca7cfb073d442b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744a687309f4b7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09875f29705414a" /><Relationship Type="http://schemas.openxmlformats.org/officeDocument/2006/relationships/notesMaster" Target="/ppt/notesMasters/notesMaster1.xml" Id="R98abdf37ce1c469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b5ae348f0f74179" /><Relationship Type="http://schemas.openxmlformats.org/officeDocument/2006/relationships/notesMaster" Target="/ppt/notesMasters/notesMaster1.xml" Id="R6b9f58e892b040a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d85603bfac496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b677fb5aea64ae2" /><Relationship Type="http://schemas.openxmlformats.org/officeDocument/2006/relationships/slideLayout" Target="/ppt/slideLayouts/slideLayout1.xml" Id="Ra46f3e0d9bd7421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46f3e0d9bd7421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33d2de76a84c0d" /><Relationship Type="http://schemas.openxmlformats.org/officeDocument/2006/relationships/notesSlide" Target="/ppt/notesSlides/notesSlide1.xml" Id="Rc0ec0b6721f1441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7fce4fdee7417f" /><Relationship Type="http://schemas.openxmlformats.org/officeDocument/2006/relationships/notesSlide" Target="/ppt/notesSlides/notesSlide2.xml" Id="Rc18ba03aee174d5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6F7F7701-751C-4BBF-A67A-5550C58DF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MASTER'S THESIS DEFENSE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6C7DEF7F-F993-4C7E-AE02-43C69873C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7905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00000"/>
                </a:solidFill>
              </a:defRPr>
            </a:pPr>
            <a:r>
              <a:rPr sz="4350" b="1">
                <a:solidFill>
                  <a:srgbClr val="000000"/>
                </a:solidFill>
              </a:rPr>
              <a:t>Tpeanuts modular architecture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0B9CD810-8A86-4CC1-AAAC-1E7002D74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685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4A4A4A"/>
                </a:solidFill>
              </a:defRPr>
            </a:pPr>
            <a:r>
              <a:rPr sz="1875">
                <a:solidFill>
                  <a:srgbClr val="4A4A4A"/>
                </a:solidFill>
              </a:rPr>
              <a:t>A layered, differentiable framework for neutrino oscillation and flux propagation</a:t>
            </a:r>
          </a:p>
        </p:txBody>
      </p:sp>
      <p:sp>
        <p:nvSpPr>
          <p:cNvPr id="4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02E589E3-EFB1-4733-902E-0D49C03AA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2667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5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ver-accent-strong">
            <a:extLst xmlns:a="http://schemas.openxmlformats.org/drawingml/2006/main">
              <a:ext uri="{FF2B5EF4-FFF2-40B4-BE49-F238E27FC236}">
                <a16:creationId xmlns:a16="http://schemas.microsoft.com/office/drawing/2014/main" id="{EFC980BE-8754-4159-A871-721A97EA0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0"/>
            <a:ext cx="76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ver-footer">
            <a:extLst xmlns:a="http://schemas.openxmlformats.org/drawingml/2006/main">
              <a:ext uri="{FF2B5EF4-FFF2-40B4-BE49-F238E27FC236}">
                <a16:creationId xmlns:a16="http://schemas.microsoft.com/office/drawing/2014/main" id="{29178F7E-AC6F-4A15-95D8-0C198D6EE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6666"/>
                </a:solidFill>
              </a:defRPr>
            </a:pPr>
            <a:r>
              <a:rPr sz="1275">
                <a:solidFill>
                  <a:srgbClr val="666666"/>
                </a:solidFill>
              </a:rPr>
              <a:t>Torch-based scientific software · Python</a:t>
            </a:r>
          </a:p>
        </p:txBody>
      </p:sp>
    </p:spTree>
    <p:extLst>
      <p:ext uri="{BB962C8B-B14F-4D97-AF65-F5344CB8AC3E}">
        <p14:creationId xmlns:p14="http://schemas.microsoft.com/office/powerpoint/2010/main" val="157917251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architecture-title">
            <a:extLst xmlns:a="http://schemas.openxmlformats.org/drawingml/2006/main">
              <a:ext uri="{FF2B5EF4-FFF2-40B4-BE49-F238E27FC236}">
                <a16:creationId xmlns:a16="http://schemas.microsoft.com/office/drawing/2014/main" id="{F88F8852-B703-4577-BC31-0AFEC9F9F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0000"/>
                </a:solidFill>
              </a:defRPr>
            </a:pPr>
            <a:r>
              <a:rPr sz="2700" b="1">
                <a:solidFill>
                  <a:srgbClr val="000000"/>
                </a:solidFill>
              </a:rPr>
              <a:t>Modularity separates scientific concerns without breaking the propagation flow</a:t>
            </a:r>
          </a:p>
        </p:txBody>
      </p:sp>
      <p:sp>
        <p:nvSpPr>
          <p:cNvPr id="2" name="architecture-subtitle">
            <a:extLst xmlns:a="http://schemas.openxmlformats.org/drawingml/2006/main">
              <a:ext uri="{FF2B5EF4-FFF2-40B4-BE49-F238E27FC236}">
                <a16:creationId xmlns:a16="http://schemas.microsoft.com/office/drawing/2014/main" id="{3FB94A0E-BCFE-4B69-83F6-ED605F583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1440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55555"/>
                </a:solidFill>
              </a:defRPr>
            </a:pPr>
            <a:r>
              <a:rPr sz="1350">
                <a:solidFill>
                  <a:srgbClr val="555555"/>
                </a:solidFill>
              </a:rPr>
              <a:t>High-level workflows compose independent source, medium and physics components.</a:t>
            </a:r>
          </a:p>
        </p:txBody>
      </p:sp>
      <p:sp>
        <p:nvSpPr>
          <p:cNvPr id="3" name="pipelines-base">
            <a:extLst xmlns:a="http://schemas.openxmlformats.org/drawingml/2006/main">
              <a:ext uri="{FF2B5EF4-FFF2-40B4-BE49-F238E27FC236}">
                <a16:creationId xmlns:a16="http://schemas.microsoft.com/office/drawing/2014/main" id="{96EDF08F-4087-48CB-9E11-23AC1582F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504950"/>
            <a:ext cx="2571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5FC"/>
          </a:solidFill>
          <a:ln xmlns:a="http://schemas.openxmlformats.org/drawingml/2006/main" w="11430">
            <a:solidFill>
              <a:srgbClr val="6DCBF4"/>
            </a:solidFill>
            <a:prstDash val="solid"/>
          </a:ln>
        </p:spPr>
      </p:sp>
      <p:sp>
        <p:nvSpPr>
          <p:cNvPr id="4" name="inference-base">
            <a:extLst xmlns:a="http://schemas.openxmlformats.org/drawingml/2006/main">
              <a:ext uri="{FF2B5EF4-FFF2-40B4-BE49-F238E27FC236}">
                <a16:creationId xmlns:a16="http://schemas.microsoft.com/office/drawing/2014/main" id="{4E8266CB-987B-4FCF-9E54-C622BA7D7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504950"/>
            <a:ext cx="2571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5FC"/>
          </a:solidFill>
          <a:ln xmlns:a="http://schemas.openxmlformats.org/drawingml/2006/main" w="11430">
            <a:solidFill>
              <a:srgbClr val="6DCBF4"/>
            </a:solidFill>
            <a:prstDash val="solid"/>
          </a:ln>
        </p:spPr>
      </p:sp>
      <p:sp>
        <p:nvSpPr>
          <p:cNvPr id="5" name="detectors-base">
            <a:extLst xmlns:a="http://schemas.openxmlformats.org/drawingml/2006/main">
              <a:ext uri="{FF2B5EF4-FFF2-40B4-BE49-F238E27FC236}">
                <a16:creationId xmlns:a16="http://schemas.microsoft.com/office/drawing/2014/main" id="{B92FF461-4D69-4D5F-8D96-C3FCC4FE7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504950"/>
            <a:ext cx="2571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5FC"/>
          </a:solidFill>
          <a:ln xmlns:a="http://schemas.openxmlformats.org/drawingml/2006/main" w="11430">
            <a:solidFill>
              <a:srgbClr val="6DCBF4"/>
            </a:solidFill>
            <a:prstDash val="solid"/>
          </a:ln>
        </p:spPr>
      </p:sp>
      <p:sp>
        <p:nvSpPr>
          <p:cNvPr id="6" name="sources-base">
            <a:extLst xmlns:a="http://schemas.openxmlformats.org/drawingml/2006/main">
              <a:ext uri="{FF2B5EF4-FFF2-40B4-BE49-F238E27FC236}">
                <a16:creationId xmlns:a16="http://schemas.microsoft.com/office/drawing/2014/main" id="{757E468E-BF40-4AD5-AE01-1247A18D1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209925"/>
            <a:ext cx="2571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11430">
            <a:solidFill>
              <a:srgbClr val="B8BCC4"/>
            </a:solidFill>
            <a:prstDash val="solid"/>
          </a:ln>
        </p:spPr>
      </p:sp>
      <p:sp>
        <p:nvSpPr>
          <p:cNvPr id="7" name="media-base">
            <a:extLst xmlns:a="http://schemas.openxmlformats.org/drawingml/2006/main">
              <a:ext uri="{FF2B5EF4-FFF2-40B4-BE49-F238E27FC236}">
                <a16:creationId xmlns:a16="http://schemas.microsoft.com/office/drawing/2014/main" id="{96F39B96-B641-467E-B8EF-24FE45EA6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209925"/>
            <a:ext cx="2571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11430">
            <a:solidFill>
              <a:srgbClr val="B8BCC4"/>
            </a:solidFill>
            <a:prstDash val="solid"/>
          </a:ln>
        </p:spPr>
      </p:sp>
      <p:sp>
        <p:nvSpPr>
          <p:cNvPr id="8" name="physics-core-base">
            <a:extLst xmlns:a="http://schemas.openxmlformats.org/drawingml/2006/main">
              <a:ext uri="{FF2B5EF4-FFF2-40B4-BE49-F238E27FC236}">
                <a16:creationId xmlns:a16="http://schemas.microsoft.com/office/drawing/2014/main" id="{725F679F-7BEB-4DF0-85F2-21E9B6D9E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209925"/>
            <a:ext cx="2571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CFF"/>
          </a:solidFill>
          <a:ln xmlns:a="http://schemas.openxmlformats.org/drawingml/2006/main" w="11430">
            <a:solidFill>
              <a:srgbClr val="3D8DFF"/>
            </a:solidFill>
            <a:prstDash val="solid"/>
          </a:ln>
        </p:spPr>
      </p:sp>
      <p:sp>
        <p:nvSpPr>
          <p:cNvPr id="9" name="foundations-base">
            <a:extLst xmlns:a="http://schemas.openxmlformats.org/drawingml/2006/main">
              <a:ext uri="{FF2B5EF4-FFF2-40B4-BE49-F238E27FC236}">
                <a16:creationId xmlns:a16="http://schemas.microsoft.com/office/drawing/2014/main" id="{FB513D92-F6DF-4B57-B844-7E4798964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952625"/>
            <a:ext cx="11430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11430">
            <a:solidFill>
              <a:srgbClr val="B8BCC4"/>
            </a:solidFill>
            <a:prstDash val="solid"/>
          </a:ln>
        </p:spPr>
      </p:sp>
      <p:sp>
        <p:nvSpPr>
          <p:cNvPr id="10" name="integration-base">
            <a:extLst xmlns:a="http://schemas.openxmlformats.org/drawingml/2006/main">
              <a:ext uri="{FF2B5EF4-FFF2-40B4-BE49-F238E27FC236}">
                <a16:creationId xmlns:a16="http://schemas.microsoft.com/office/drawing/2014/main" id="{239AB586-E6E0-4647-8112-FB6E037D5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952625"/>
            <a:ext cx="11430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11430">
            <a:solidFill>
              <a:srgbClr val="B8BCC4"/>
            </a:solidFill>
            <a:prstDash val="solid"/>
          </a:ln>
        </p:spPr>
      </p:sp>
      <p:sp>
        <p:nvSpPr>
          <p:cNvPr id="11" name="legacy-base">
            <a:extLst xmlns:a="http://schemas.openxmlformats.org/drawingml/2006/main">
              <a:ext uri="{FF2B5EF4-FFF2-40B4-BE49-F238E27FC236}">
                <a16:creationId xmlns:a16="http://schemas.microsoft.com/office/drawing/2014/main" id="{2DF5FC66-9808-4A55-B87D-4D3E7CF41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5143500"/>
            <a:ext cx="8667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A9A9A"/>
            </a:solidFill>
            <a:prstDash val="solid"/>
          </a:ln>
        </p:spPr>
      </p:sp>
      <p:cxnSp>
        <p:nvCxnSpPr>
          <p:cNvPr id="52" name=""/>
          <p:cNvCxnSpPr>
            <a:stCxn xmlns:a="http://schemas.openxmlformats.org/drawingml/2006/main" id="3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3048000" y="2571750"/>
            <a:ext cx="0" cy="638175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7A7A7A"/>
            </a:solidFill>
            <a:prstDash val="solid"/>
            <a:headEnd type="arrow" w="sm" len="sm"/>
          </a:ln>
        </p:spPr>
      </p:cxnSp>
      <p:cxnSp>
        <p:nvCxnSpPr>
          <p:cNvPr id="53" name=""/>
          <p:cNvCxnSpPr>
            <a:stCxn xmlns:a="http://schemas.openxmlformats.org/drawingml/2006/main" id="4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6096000" y="2571750"/>
            <a:ext cx="0" cy="638175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7A7A7A"/>
            </a:solidFill>
            <a:prstDash val="solid"/>
            <a:headEnd type="arrow" w="sm" len="sm"/>
          </a:ln>
        </p:spPr>
      </p:cxnSp>
      <p:cxnSp>
        <p:nvCxnSpPr>
          <p:cNvPr id="54" name=""/>
          <p:cNvCxnSpPr>
            <a:stCxn xmlns:a="http://schemas.openxmlformats.org/drawingml/2006/main" id="5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9144000" y="2571750"/>
            <a:ext cx="0" cy="638175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7A7A7A"/>
            </a:solidFill>
            <a:prstDash val="solid"/>
            <a:headEnd type="arrow" w="sm" len="sm"/>
          </a:ln>
        </p:spPr>
      </p:cxnSp>
      <p:cxnSp>
        <p:nvCxnSpPr>
          <p:cNvPr id="55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333875" y="37433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7A7A7A"/>
            </a:solidFill>
            <a:prstDash val="solid"/>
            <a:headEnd type="arrow" w="sm" len="sm"/>
          </a:ln>
        </p:spPr>
      </p:cxnSp>
      <p:cxnSp>
        <p:nvCxnSpPr>
          <p:cNvPr id="56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381875" y="37433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7A7A7A"/>
            </a:solidFill>
            <a:prstDash val="solid"/>
            <a:headEnd type="arrow" w="sm" len="sm"/>
          </a:ln>
        </p:spPr>
      </p:cxnSp>
      <p:cxnSp>
        <p:nvCxnSpPr>
          <p:cNvPr id="57" name=""/>
          <p:cNvCxnSpPr>
            <a:stCxn xmlns:a="http://schemas.openxmlformats.org/drawingml/2006/main" id="9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1447800" y="3343275"/>
            <a:ext cx="3362325" cy="40005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8B8B8B"/>
            </a:solidFill>
            <a:prstDash val="dash"/>
            <a:headEnd type="arrow" w="sm" len="sm"/>
          </a:ln>
        </p:spPr>
      </p:cxnSp>
      <p:cxnSp>
        <p:nvCxnSpPr>
          <p:cNvPr id="58" name=""/>
          <p:cNvCxnSpPr>
            <a:stCxn xmlns:a="http://schemas.openxmlformats.org/drawingml/2006/main" id="10" idx="1"/>
            <a:endCxn xmlns:a="http://schemas.openxmlformats.org/drawingml/2006/main" id="8" idx="3"/>
          </p:cNvCxnSpPr>
          <p:nvPr/>
        </p:nvCxnSpPr>
        <p:spPr>
          <a:xfrm xmlns:a="http://schemas.openxmlformats.org/drawingml/2006/main" flipH="1">
            <a:off x="10429875" y="3343275"/>
            <a:ext cx="314325" cy="40005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8B8B8B"/>
            </a:solidFill>
            <a:prstDash val="dash"/>
            <a:headEnd type="arrow" w="sm" len="sm"/>
          </a:ln>
        </p:spPr>
      </p:cxnSp>
      <p:cxnSp>
        <p:nvCxnSpPr>
          <p:cNvPr id="59" name=""/>
          <p:cNvCxnSpPr>
            <a:stCxn xmlns:a="http://schemas.openxmlformats.org/drawingml/2006/main" id="11" idx="0"/>
            <a:endCxn xmlns:a="http://schemas.openxmlformats.org/drawingml/2006/main" id="7" idx="2"/>
          </p:cNvCxnSpPr>
          <p:nvPr/>
        </p:nvCxnSpPr>
        <p:spPr>
          <a:xfrm xmlns:a="http://schemas.openxmlformats.org/drawingml/2006/main" flipV="1">
            <a:off x="6096000" y="4276725"/>
            <a:ext cx="0" cy="86677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8B8B8B"/>
            </a:solidFill>
            <a:prstDash val="dash"/>
            <a:headEnd type="arrow" w="sm" len="sm"/>
          </a:ln>
        </p:spPr>
      </p:cxnSp>
      <p:sp>
        <p:nvSpPr>
          <p:cNvPr id="20" name="application-layer">
            <a:extLst xmlns:a="http://schemas.openxmlformats.org/drawingml/2006/main">
              <a:ext uri="{FF2B5EF4-FFF2-40B4-BE49-F238E27FC236}">
                <a16:creationId xmlns:a16="http://schemas.microsoft.com/office/drawing/2014/main" id="{63665DDD-BE2F-4C2E-9EA9-A36306C94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2573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2659A"/>
                </a:solidFill>
              </a:defRPr>
            </a:pPr>
            <a:r>
              <a:rPr sz="1125" b="1">
                <a:solidFill>
                  <a:srgbClr val="12659A"/>
                </a:solidFill>
              </a:rPr>
              <a:t>APPLICATION LAYER</a:t>
            </a:r>
          </a:p>
        </p:txBody>
      </p:sp>
      <p:sp>
        <p:nvSpPr>
          <p:cNvPr id="21" name="domain-layer">
            <a:extLst xmlns:a="http://schemas.openxmlformats.org/drawingml/2006/main">
              <a:ext uri="{FF2B5EF4-FFF2-40B4-BE49-F238E27FC236}">
                <a16:creationId xmlns:a16="http://schemas.microsoft.com/office/drawing/2014/main" id="{1EAE918B-27F7-4203-AF52-12406E723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962275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DOMAIN &amp; COMPUTATION LAYER</a:t>
            </a:r>
          </a:p>
        </p:txBody>
      </p:sp>
      <p:sp>
        <p:nvSpPr>
          <p:cNvPr id="22" name="pipelines-title">
            <a:extLst xmlns:a="http://schemas.openxmlformats.org/drawingml/2006/main">
              <a:ext uri="{FF2B5EF4-FFF2-40B4-BE49-F238E27FC236}">
                <a16:creationId xmlns:a16="http://schemas.microsoft.com/office/drawing/2014/main" id="{E5C9903B-17B9-4878-A45D-0B2B39EE7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1628775"/>
            <a:ext cx="222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2659A"/>
                </a:solidFill>
              </a:defRPr>
            </a:pPr>
            <a:r>
              <a:rPr sz="1650" b="1">
                <a:solidFill>
                  <a:srgbClr val="12659A"/>
                </a:solidFill>
              </a:rPr>
              <a:t>Propagation pipelines</a:t>
            </a:r>
          </a:p>
        </p:txBody>
      </p:sp>
      <p:sp>
        <p:nvSpPr>
          <p:cNvPr id="23" name="pipelines-detail">
            <a:extLst xmlns:a="http://schemas.openxmlformats.org/drawingml/2006/main">
              <a:ext uri="{FF2B5EF4-FFF2-40B4-BE49-F238E27FC236}">
                <a16:creationId xmlns:a16="http://schemas.microsoft.com/office/drawing/2014/main" id="{696AF7D0-1817-4CA8-88B9-9B9482450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1962150"/>
            <a:ext cx="2228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A4A4A"/>
                </a:solidFill>
              </a:defRPr>
            </a:pPr>
            <a:r>
              <a:rPr sz="1200">
                <a:solidFill>
                  <a:srgbClr val="4A4A4A"/>
                </a:solidFill>
              </a:rPr>
              <a:t>Solar · Earth · Atmosphere</a:t>
            </a:r>
          </a:p>
          <a:p xmlns:a="http://schemas.openxmlformats.org/drawingml/2006/main">
            <a:pPr>
              <a:defRPr sz="1200">
                <a:solidFill>
                  <a:srgbClr val="4A4A4A"/>
                </a:solidFill>
              </a:defRPr>
            </a:pPr>
            <a:r>
              <a:rPr sz="1200">
                <a:solidFill>
                  <a:srgbClr val="4A4A4A"/>
                </a:solidFill>
              </a:rPr>
              <a:t>Combined end-to-end workflows</a:t>
            </a:r>
          </a:p>
        </p:txBody>
      </p:sp>
      <p:sp>
        <p:nvSpPr>
          <p:cNvPr id="24" name="inference-title">
            <a:extLst xmlns:a="http://schemas.openxmlformats.org/drawingml/2006/main">
              <a:ext uri="{FF2B5EF4-FFF2-40B4-BE49-F238E27FC236}">
                <a16:creationId xmlns:a16="http://schemas.microsoft.com/office/drawing/2014/main" id="{379E24ED-E39C-4271-8AC1-AB3FF8094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628775"/>
            <a:ext cx="222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2659A"/>
                </a:solidFill>
              </a:defRPr>
            </a:pPr>
            <a:r>
              <a:rPr sz="1650" b="1">
                <a:solidFill>
                  <a:srgbClr val="12659A"/>
                </a:solidFill>
              </a:rPr>
              <a:t>Inference</a:t>
            </a:r>
          </a:p>
        </p:txBody>
      </p:sp>
      <p:sp>
        <p:nvSpPr>
          <p:cNvPr id="25" name="inference-detail">
            <a:extLst xmlns:a="http://schemas.openxmlformats.org/drawingml/2006/main">
              <a:ext uri="{FF2B5EF4-FFF2-40B4-BE49-F238E27FC236}">
                <a16:creationId xmlns:a16="http://schemas.microsoft.com/office/drawing/2014/main" id="{CCC93697-4DD0-4C66-A708-227A2F26E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962150"/>
            <a:ext cx="2228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A4A4A"/>
                </a:solidFill>
              </a:defRPr>
            </a:pPr>
            <a:r>
              <a:rPr sz="1200">
                <a:solidFill>
                  <a:srgbClr val="4A4A4A"/>
                </a:solidFill>
              </a:rPr>
              <a:t>Differentiable models</a:t>
            </a:r>
          </a:p>
          <a:p xmlns:a="http://schemas.openxmlformats.org/drawingml/2006/main">
            <a:pPr>
              <a:defRPr sz="1200">
                <a:solidFill>
                  <a:srgbClr val="4A4A4A"/>
                </a:solidFill>
              </a:defRPr>
            </a:pPr>
            <a:r>
              <a:rPr sz="1200">
                <a:solidFill>
                  <a:srgbClr val="4A4A4A"/>
                </a:solidFill>
              </a:rPr>
              <a:t>Likelihoods · Fits · Scans</a:t>
            </a:r>
          </a:p>
        </p:txBody>
      </p:sp>
      <p:sp>
        <p:nvSpPr>
          <p:cNvPr id="26" name="detectors-title">
            <a:extLst xmlns:a="http://schemas.openxmlformats.org/drawingml/2006/main">
              <a:ext uri="{FF2B5EF4-FFF2-40B4-BE49-F238E27FC236}">
                <a16:creationId xmlns:a16="http://schemas.microsoft.com/office/drawing/2014/main" id="{DA2D7860-0B23-491B-80A5-35FC2FE6F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1628775"/>
            <a:ext cx="222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2659A"/>
                </a:solidFill>
              </a:defRPr>
            </a:pPr>
            <a:r>
              <a:rPr sz="1650" b="1">
                <a:solidFill>
                  <a:srgbClr val="12659A"/>
                </a:solidFill>
              </a:rPr>
              <a:t>Detector models</a:t>
            </a:r>
          </a:p>
        </p:txBody>
      </p:sp>
      <p:sp>
        <p:nvSpPr>
          <p:cNvPr id="27" name="detectors-detail">
            <a:extLst xmlns:a="http://schemas.openxmlformats.org/drawingml/2006/main">
              <a:ext uri="{FF2B5EF4-FFF2-40B4-BE49-F238E27FC236}">
                <a16:creationId xmlns:a16="http://schemas.microsoft.com/office/drawing/2014/main" id="{B7EC6B17-5E48-419A-8494-B85518F0B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1962150"/>
            <a:ext cx="2228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A4A4A"/>
                </a:solidFill>
              </a:defRPr>
            </a:pPr>
            <a:r>
              <a:rPr sz="1200">
                <a:solidFill>
                  <a:srgbClr val="4A4A4A"/>
                </a:solidFill>
              </a:rPr>
              <a:t>Responses · Observables</a:t>
            </a:r>
          </a:p>
          <a:p xmlns:a="http://schemas.openxmlformats.org/drawingml/2006/main">
            <a:pPr>
              <a:defRPr sz="1200">
                <a:solidFill>
                  <a:srgbClr val="4A4A4A"/>
                </a:solidFill>
              </a:defRPr>
            </a:pPr>
            <a:r>
              <a:rPr sz="1200">
                <a:solidFill>
                  <a:srgbClr val="4A4A4A"/>
                </a:solidFill>
              </a:rPr>
              <a:t>SNO · Borexino · IceCube</a:t>
            </a:r>
          </a:p>
        </p:txBody>
      </p:sp>
      <p:sp>
        <p:nvSpPr>
          <p:cNvPr id="28" name="sources-title">
            <a:extLst xmlns:a="http://schemas.openxmlformats.org/drawingml/2006/main">
              <a:ext uri="{FF2B5EF4-FFF2-40B4-BE49-F238E27FC236}">
                <a16:creationId xmlns:a16="http://schemas.microsoft.com/office/drawing/2014/main" id="{FFCA8323-88CE-42DB-9591-533A604BF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3333750"/>
            <a:ext cx="222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Neutrino sources</a:t>
            </a:r>
          </a:p>
        </p:txBody>
      </p:sp>
      <p:sp>
        <p:nvSpPr>
          <p:cNvPr id="29" name="sources-detail">
            <a:extLst xmlns:a="http://schemas.openxmlformats.org/drawingml/2006/main">
              <a:ext uri="{FF2B5EF4-FFF2-40B4-BE49-F238E27FC236}">
                <a16:creationId xmlns:a16="http://schemas.microsoft.com/office/drawing/2014/main" id="{FFB4F058-1D12-4008-BA78-3EBF94E65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3667125"/>
            <a:ext cx="2228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A4A4A"/>
                </a:solidFill>
              </a:defRPr>
            </a:pPr>
            <a:r>
              <a:rPr sz="1200">
                <a:solidFill>
                  <a:srgbClr val="4A4A4A"/>
                </a:solidFill>
              </a:rPr>
              <a:t>Solar · Atmospheric · Reactor</a:t>
            </a:r>
          </a:p>
          <a:p xmlns:a="http://schemas.openxmlformats.org/drawingml/2006/main">
            <a:pPr>
              <a:defRPr sz="1200">
                <a:solidFill>
                  <a:srgbClr val="4A4A4A"/>
                </a:solidFill>
              </a:defRPr>
            </a:pPr>
            <a:r>
              <a:rPr sz="1200">
                <a:solidFill>
                  <a:srgbClr val="4A4A4A"/>
                </a:solidFill>
              </a:rPr>
              <a:t>Production spectra and fluxes</a:t>
            </a:r>
          </a:p>
        </p:txBody>
      </p:sp>
      <p:sp>
        <p:nvSpPr>
          <p:cNvPr id="30" name="media-title">
            <a:extLst xmlns:a="http://schemas.openxmlformats.org/drawingml/2006/main">
              <a:ext uri="{FF2B5EF4-FFF2-40B4-BE49-F238E27FC236}">
                <a16:creationId xmlns:a16="http://schemas.microsoft.com/office/drawing/2014/main" id="{E1B6FEDE-7E2D-4EEA-8F64-023F36368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3333750"/>
            <a:ext cx="222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Propagation media</a:t>
            </a:r>
          </a:p>
        </p:txBody>
      </p:sp>
      <p:sp>
        <p:nvSpPr>
          <p:cNvPr id="31" name="media-detail">
            <a:extLst xmlns:a="http://schemas.openxmlformats.org/drawingml/2006/main">
              <a:ext uri="{FF2B5EF4-FFF2-40B4-BE49-F238E27FC236}">
                <a16:creationId xmlns:a16="http://schemas.microsoft.com/office/drawing/2014/main" id="{2BCF54BA-4327-412A-84BC-181E40B4D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3667125"/>
            <a:ext cx="2228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A4A4A"/>
                </a:solidFill>
              </a:defRPr>
            </a:pPr>
            <a:r>
              <a:rPr sz="1200">
                <a:solidFill>
                  <a:srgbClr val="4A4A4A"/>
                </a:solidFill>
              </a:rPr>
              <a:t>Vacuum · Solar · Earth · Atmosphere</a:t>
            </a:r>
          </a:p>
          <a:p xmlns:a="http://schemas.openxmlformats.org/drawingml/2006/main">
            <a:pPr>
              <a:defRPr sz="1200">
                <a:solidFill>
                  <a:srgbClr val="4A4A4A"/>
                </a:solidFill>
              </a:defRPr>
            </a:pPr>
            <a:r>
              <a:rPr sz="1200">
                <a:solidFill>
                  <a:srgbClr val="4A4A4A"/>
                </a:solidFill>
              </a:rPr>
              <a:t>Geometry, density and evolution</a:t>
            </a:r>
          </a:p>
        </p:txBody>
      </p:sp>
      <p:sp>
        <p:nvSpPr>
          <p:cNvPr id="32" name="core-title">
            <a:extLst xmlns:a="http://schemas.openxmlformats.org/drawingml/2006/main">
              <a:ext uri="{FF2B5EF4-FFF2-40B4-BE49-F238E27FC236}">
                <a16:creationId xmlns:a16="http://schemas.microsoft.com/office/drawing/2014/main" id="{69C97234-FE68-4022-81A2-31E712B1A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333750"/>
            <a:ext cx="222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2659A"/>
                </a:solidFill>
              </a:defRPr>
            </a:pPr>
            <a:r>
              <a:rPr sz="1650" b="1">
                <a:solidFill>
                  <a:srgbClr val="12659A"/>
                </a:solidFill>
              </a:rPr>
              <a:t>Physics core</a:t>
            </a:r>
          </a:p>
        </p:txBody>
      </p:sp>
      <p:sp>
        <p:nvSpPr>
          <p:cNvPr id="33" name="core-detail">
            <a:extLst xmlns:a="http://schemas.openxmlformats.org/drawingml/2006/main">
              <a:ext uri="{FF2B5EF4-FFF2-40B4-BE49-F238E27FC236}">
                <a16:creationId xmlns:a16="http://schemas.microsoft.com/office/drawing/2014/main" id="{8CECEB68-8982-4226-A419-7EAA2EED8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667125"/>
            <a:ext cx="2228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A4A4A"/>
                </a:solidFill>
              </a:defRPr>
            </a:pPr>
            <a:r>
              <a:rPr sz="1200">
                <a:solidFill>
                  <a:srgbClr val="4A4A4A"/>
                </a:solidFill>
              </a:rPr>
              <a:t>Hamiltonians · PMNS · Potentials</a:t>
            </a:r>
          </a:p>
          <a:p xmlns:a="http://schemas.openxmlformats.org/drawingml/2006/main">
            <a:pPr>
              <a:defRPr sz="1200">
                <a:solidFill>
                  <a:srgbClr val="4A4A4A"/>
                </a:solidFill>
              </a:defRPr>
            </a:pPr>
            <a:r>
              <a:rPr sz="1200">
                <a:solidFill>
                  <a:srgbClr val="4A4A4A"/>
                </a:solidFill>
              </a:rPr>
              <a:t>SM/BSM models · Numerical solvers</a:t>
            </a:r>
          </a:p>
        </p:txBody>
      </p:sp>
      <p:sp>
        <p:nvSpPr>
          <p:cNvPr id="34" name="foundations-title">
            <a:extLst xmlns:a="http://schemas.openxmlformats.org/drawingml/2006/main">
              <a:ext uri="{FF2B5EF4-FFF2-40B4-BE49-F238E27FC236}">
                <a16:creationId xmlns:a16="http://schemas.microsoft.com/office/drawing/2014/main" id="{203CD323-7E98-49C7-BB21-53E2F8E9E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14550"/>
            <a:ext cx="95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FOUNDATIONS</a:t>
            </a:r>
          </a:p>
        </p:txBody>
      </p:sp>
      <p:sp>
        <p:nvSpPr>
          <p:cNvPr id="35" name="foundations-detail">
            <a:extLst xmlns:a="http://schemas.openxmlformats.org/drawingml/2006/main">
              <a:ext uri="{FF2B5EF4-FFF2-40B4-BE49-F238E27FC236}">
                <a16:creationId xmlns:a16="http://schemas.microsoft.com/office/drawing/2014/main" id="{21C307B2-031A-453E-9F77-983BE1CF7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86050"/>
            <a:ext cx="952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555555"/>
                </a:solidFill>
              </a:defRPr>
            </a:pPr>
            <a:r>
              <a:rPr sz="1125">
                <a:solidFill>
                  <a:srgbClr val="555555"/>
                </a:solidFill>
              </a:rPr>
              <a:t>Configuration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125">
                <a:solidFill>
                  <a:srgbClr val="555555"/>
                </a:solidFill>
              </a:defRPr>
            </a:pPr>
            <a:r>
              <a:rPr sz="1125">
                <a:solidFill>
                  <a:srgbClr val="555555"/>
                </a:solidFill>
              </a:rPr>
              <a:t>Tensor types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125">
                <a:solidFill>
                  <a:srgbClr val="555555"/>
                </a:solidFill>
              </a:defRPr>
            </a:pPr>
            <a:r>
              <a:rPr sz="1125">
                <a:solidFill>
                  <a:srgbClr val="555555"/>
                </a:solidFill>
              </a:rPr>
              <a:t>Runtime context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125">
                <a:solidFill>
                  <a:srgbClr val="555555"/>
                </a:solidFill>
              </a:defRPr>
            </a:pPr>
            <a:r>
              <a:rPr sz="1125">
                <a:solidFill>
                  <a:srgbClr val="555555"/>
                </a:solidFill>
              </a:rPr>
              <a:t>Math &amp; I/O</a:t>
            </a:r>
          </a:p>
        </p:txBody>
      </p:sp>
      <p:sp>
        <p:nvSpPr>
          <p:cNvPr id="36" name="integration-title">
            <a:extLst xmlns:a="http://schemas.openxmlformats.org/drawingml/2006/main">
              <a:ext uri="{FF2B5EF4-FFF2-40B4-BE49-F238E27FC236}">
                <a16:creationId xmlns:a16="http://schemas.microsoft.com/office/drawing/2014/main" id="{73AE53C5-4DE1-4376-B621-9D96E01E7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2114550"/>
            <a:ext cx="95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INTEGRATION</a:t>
            </a:r>
          </a:p>
        </p:txBody>
      </p:sp>
      <p:sp>
        <p:nvSpPr>
          <p:cNvPr id="37" name="integration-detail">
            <a:extLst xmlns:a="http://schemas.openxmlformats.org/drawingml/2006/main">
              <a:ext uri="{FF2B5EF4-FFF2-40B4-BE49-F238E27FC236}">
                <a16:creationId xmlns:a16="http://schemas.microsoft.com/office/drawing/2014/main" id="{51EDEAF1-BFF4-4350-A5C9-F92184578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2686050"/>
            <a:ext cx="952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555555"/>
                </a:solidFill>
              </a:defRPr>
            </a:pPr>
            <a:r>
              <a:rPr sz="1125">
                <a:solidFill>
                  <a:srgbClr val="555555"/>
                </a:solidFill>
              </a:rPr>
              <a:t>Reference data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125">
                <a:solidFill>
                  <a:srgbClr val="555555"/>
                </a:solidFill>
              </a:defRPr>
            </a:pPr>
            <a:r>
              <a:rPr sz="1125">
                <a:solidFill>
                  <a:srgbClr val="555555"/>
                </a:solidFill>
              </a:rPr>
              <a:t>nuSQuIDS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125">
                <a:solidFill>
                  <a:srgbClr val="555555"/>
                </a:solidFill>
              </a:defRPr>
            </a:pPr>
            <a:r>
              <a:rPr sz="1125">
                <a:solidFill>
                  <a:srgbClr val="555555"/>
                </a:solidFill>
              </a:rPr>
              <a:t>MCEq · Honda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125">
                <a:solidFill>
                  <a:srgbClr val="555555"/>
                </a:solidFill>
              </a:defRPr>
            </a:pPr>
            <a:r>
              <a:rPr sz="1125">
                <a:solidFill>
                  <a:srgbClr val="555555"/>
                </a:solidFill>
              </a:rPr>
              <a:t>PyMSIS</a:t>
            </a:r>
          </a:p>
        </p:txBody>
      </p:sp>
      <p:sp>
        <p:nvSpPr>
          <p:cNvPr id="38" name="legacy-title">
            <a:extLst xmlns:a="http://schemas.openxmlformats.org/drawingml/2006/main">
              <a:ext uri="{FF2B5EF4-FFF2-40B4-BE49-F238E27FC236}">
                <a16:creationId xmlns:a16="http://schemas.microsoft.com/office/drawing/2014/main" id="{AFC918DF-66BA-4FC7-A5D8-F8D70D1BB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24827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Legacy compatibility and validation</a:t>
            </a:r>
          </a:p>
        </p:txBody>
      </p:sp>
      <p:sp>
        <p:nvSpPr>
          <p:cNvPr id="39" name="legacy-detail">
            <a:extLst xmlns:a="http://schemas.openxmlformats.org/drawingml/2006/main">
              <a:ext uri="{FF2B5EF4-FFF2-40B4-BE49-F238E27FC236}">
                <a16:creationId xmlns:a16="http://schemas.microsoft.com/office/drawing/2014/main" id="{F083C539-474D-41ED-AAB3-A5D81E7D2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5248275"/>
            <a:ext cx="5286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55555"/>
                </a:solidFill>
              </a:defRPr>
            </a:pPr>
            <a:r>
              <a:rPr sz="1200">
                <a:solidFill>
                  <a:srgbClr val="555555"/>
                </a:solidFill>
              </a:rPr>
              <a:t>The NumPy/Numba peanuts package provides regression checks and backward compatibility.</a:t>
            </a:r>
          </a:p>
        </p:txBody>
      </p:sp>
      <p:sp>
        <p:nvSpPr>
          <p:cNvPr id="40" name="flow-label">
            <a:extLst xmlns:a="http://schemas.openxmlformats.org/drawingml/2006/main">
              <a:ext uri="{FF2B5EF4-FFF2-40B4-BE49-F238E27FC236}">
                <a16:creationId xmlns:a16="http://schemas.microsoft.com/office/drawing/2014/main" id="{ACB4FB2F-9DEB-4F45-B008-D5D7C04A3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2103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D8DFF"/>
                </a:solidFill>
              </a:defRPr>
            </a:pPr>
            <a:r>
              <a:rPr sz="1275" b="1">
                <a:solidFill>
                  <a:srgbClr val="3D8DFF"/>
                </a:solidFill>
              </a:rPr>
              <a:t>composition → propagation → prediction</a:t>
            </a:r>
          </a:p>
        </p:txBody>
      </p:sp>
    </p:spTree>
    <p:extLst>
      <p:ext uri="{BB962C8B-B14F-4D97-AF65-F5344CB8AC3E}">
        <p14:creationId xmlns:p14="http://schemas.microsoft.com/office/powerpoint/2010/main" val="1453782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2026-08-26T18:01:35.8590000Z</dcterms:created>
  <dcterms:modified xsi:type="dcterms:W3CDTF">2026-08-26T18:01:35.8600000Z</dcterms:modified>
</coreProperties>
</file>