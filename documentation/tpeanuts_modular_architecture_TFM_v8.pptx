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35beef76f04793" /><Relationship Type="http://schemas.openxmlformats.org/officeDocument/2006/relationships/extended-properties" Target="/docProps/app.xml" Id="R255de47899c2405c" /><Relationship Type="http://schemas.openxmlformats.org/officeDocument/2006/relationships/officeDocument" Target="/ppt/presentation.xml" Id="R3e9cea371bb34a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4805300fb54adb"/>
  </p:sldMasterIdLst>
  <p:notesMasterIdLst>
    <p:notesMasterId xmlns:r="http://schemas.openxmlformats.org/officeDocument/2006/relationships" r:id="R0307b09cf52c46c4"/>
  </p:notesMasterIdLst>
  <p:sldIdLst>
    <p:sldId xmlns:r="http://schemas.openxmlformats.org/officeDocument/2006/relationships" id="256" r:id="R42f12491bb8f4ac7"/>
    <p:sldId xmlns:r="http://schemas.openxmlformats.org/officeDocument/2006/relationships" id="257" r:id="R13b9c310438a4e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a144204ef343a6" /><Relationship Type="http://schemas.openxmlformats.org/officeDocument/2006/relationships/slideMaster" Target="/ppt/slideMasters/slideMaster1.xml" Id="Rbc4805300fb54adb" /><Relationship Type="http://schemas.openxmlformats.org/officeDocument/2006/relationships/notesMaster" Target="/ppt/notesMasters/notesMaster1.xml" Id="R0307b09cf52c46c4" /><Relationship Type="http://schemas.openxmlformats.org/officeDocument/2006/relationships/presProps" Target="/ppt/presProps.xml" Id="R894df260986d4624" /><Relationship Type="http://schemas.openxmlformats.org/officeDocument/2006/relationships/tableStyles" Target="/ppt/tableStyles.xml" Id="Rd8831e4ba94f4cef" /><Relationship Type="http://schemas.openxmlformats.org/officeDocument/2006/relationships/slide" Target="/ppt/slides/slide1.xml" Id="R42f12491bb8f4ac7" /><Relationship Type="http://schemas.openxmlformats.org/officeDocument/2006/relationships/slide" Target="/ppt/slides/slide2.xml" Id="R13b9c310438a4e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bcc36937974f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a7d6e366a34279" /><Relationship Type="http://schemas.openxmlformats.org/officeDocument/2006/relationships/notesMaster" Target="/ppt/notesMasters/notesMaster1.xml" Id="R286d1dd314924f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7796fa10f54df9" /><Relationship Type="http://schemas.openxmlformats.org/officeDocument/2006/relationships/notesMaster" Target="/ppt/notesMasters/notesMaster1.xml" Id="Rf54116ffd5e441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c9e888f4464a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54fffbfa3a432e" /><Relationship Type="http://schemas.openxmlformats.org/officeDocument/2006/relationships/slideLayout" Target="/ppt/slideLayouts/slideLayout1.xml" Id="R1b2f0664872540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2f0664872540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0607638a54272" /><Relationship Type="http://schemas.openxmlformats.org/officeDocument/2006/relationships/notesSlide" Target="/ppt/notesSlides/notesSlide1.xml" Id="R23f9d94045dd4a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11824d56040d6" /><Relationship Type="http://schemas.openxmlformats.org/officeDocument/2006/relationships/notesSlide" Target="/ppt/notesSlides/notesSlide2.xml" Id="Rd86093f95da54d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7AE7CA12-89D9-45D0-AE07-84AD195A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MASTER'S THESIS DEFENSE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D54CD0B-83F4-44D2-B5E8-D8EDCC79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790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Tpeanuts modular architecture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5949C5E-77CA-477F-8C1F-EFB67322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A4A4A"/>
                </a:solidFill>
              </a:defRPr>
            </a:pPr>
            <a:r>
              <a:rPr sz="1875">
                <a:solidFill>
                  <a:srgbClr val="4A4A4A"/>
                </a:solidFill>
              </a:rPr>
              <a:t>A layered, differentiable framework for neutrino oscillation and flux propagation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998C548A-3A83-4654-88EA-630D3BD6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accent-strong">
            <a:extLst xmlns:a="http://schemas.openxmlformats.org/drawingml/2006/main">
              <a:ext uri="{FF2B5EF4-FFF2-40B4-BE49-F238E27FC236}">
                <a16:creationId xmlns:a16="http://schemas.microsoft.com/office/drawing/2014/main" id="{524DB064-27A4-451A-BF34-5941B0AD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76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43C6A889-2DA1-4519-8DE6-3066FD4C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</a:defRPr>
            </a:pPr>
            <a:r>
              <a:rPr sz="1275">
                <a:solidFill>
                  <a:srgbClr val="666666"/>
                </a:solidFill>
              </a:rPr>
              <a:t>Torch-based scientific software · Python</a:t>
            </a:r>
          </a:p>
        </p:txBody>
      </p:sp>
    </p:spTree>
    <p:extLst>
      <p:ext uri="{BB962C8B-B14F-4D97-AF65-F5344CB8AC3E}">
        <p14:creationId xmlns:p14="http://schemas.microsoft.com/office/powerpoint/2010/main" val="13862934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61BB63E9-D85C-4D29-AB98-8D9297CA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Tpeanuts keeps scientific concerns modular</a:t>
            </a:r>
          </a:p>
        </p:txBody>
      </p:sp>
      <p:sp>
        <p:nvSpPr>
          <p:cNvPr id="2" name="pipelines-base">
            <a:extLst xmlns:a="http://schemas.openxmlformats.org/drawingml/2006/main">
              <a:ext uri="{FF2B5EF4-FFF2-40B4-BE49-F238E27FC236}">
                <a16:creationId xmlns:a16="http://schemas.microsoft.com/office/drawing/2014/main" id="{039B2FFC-E18E-4303-8696-8DEA9F4B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381125"/>
            <a:ext cx="333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C"/>
          </a:solidFill>
          <a:ln xmlns:a="http://schemas.openxmlformats.org/drawingml/2006/main" w="11430">
            <a:solidFill>
              <a:srgbClr val="6DCBF4"/>
            </a:solidFill>
            <a:prstDash val="solid"/>
          </a:ln>
        </p:spPr>
      </p:sp>
      <p:sp>
        <p:nvSpPr>
          <p:cNvPr id="3" name="inference-base">
            <a:extLst xmlns:a="http://schemas.openxmlformats.org/drawingml/2006/main">
              <a:ext uri="{FF2B5EF4-FFF2-40B4-BE49-F238E27FC236}">
                <a16:creationId xmlns:a16="http://schemas.microsoft.com/office/drawing/2014/main" id="{A75D019A-1450-4CAC-9FFB-2371918A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333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C"/>
          </a:solidFill>
          <a:ln xmlns:a="http://schemas.openxmlformats.org/drawingml/2006/main" w="11430">
            <a:solidFill>
              <a:srgbClr val="6DCBF4"/>
            </a:solidFill>
            <a:prstDash val="solid"/>
          </a:ln>
        </p:spPr>
      </p:sp>
      <p:sp>
        <p:nvSpPr>
          <p:cNvPr id="4" name="sources-base">
            <a:extLst xmlns:a="http://schemas.openxmlformats.org/drawingml/2006/main">
              <a:ext uri="{FF2B5EF4-FFF2-40B4-BE49-F238E27FC236}">
                <a16:creationId xmlns:a16="http://schemas.microsoft.com/office/drawing/2014/main" id="{5F931D63-2640-4E1E-AF53-FB79F3AA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5" name="media-base">
            <a:extLst xmlns:a="http://schemas.openxmlformats.org/drawingml/2006/main">
              <a:ext uri="{FF2B5EF4-FFF2-40B4-BE49-F238E27FC236}">
                <a16:creationId xmlns:a16="http://schemas.microsoft.com/office/drawing/2014/main" id="{D599B32F-5F13-4287-8998-12ECA8B6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6700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6" name="detectors-base">
            <a:extLst xmlns:a="http://schemas.openxmlformats.org/drawingml/2006/main">
              <a:ext uri="{FF2B5EF4-FFF2-40B4-BE49-F238E27FC236}">
                <a16:creationId xmlns:a16="http://schemas.microsoft.com/office/drawing/2014/main" id="{B7CBAC8B-EE52-4A6D-A973-F1DDA903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7" name="core-container">
            <a:extLst xmlns:a="http://schemas.openxmlformats.org/drawingml/2006/main">
              <a:ext uri="{FF2B5EF4-FFF2-40B4-BE49-F238E27FC236}">
                <a16:creationId xmlns:a16="http://schemas.microsoft.com/office/drawing/2014/main" id="{C9271E6B-2AEE-46A2-99A5-DE13D412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9906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8" name="source-core-anchor">
            <a:extLst xmlns:a="http://schemas.openxmlformats.org/drawingml/2006/main">
              <a:ext uri="{FF2B5EF4-FFF2-40B4-BE49-F238E27FC236}">
                <a16:creationId xmlns:a16="http://schemas.microsoft.com/office/drawing/2014/main" id="{BFC19B1F-D081-4FAB-972A-46F69863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38575"/>
            <a:ext cx="28575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media-core-anchor">
            <a:extLst xmlns:a="http://schemas.openxmlformats.org/drawingml/2006/main">
              <a:ext uri="{FF2B5EF4-FFF2-40B4-BE49-F238E27FC236}">
                <a16:creationId xmlns:a16="http://schemas.microsoft.com/office/drawing/2014/main" id="{19859451-ACCC-4614-A85D-27A3F41C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838575"/>
            <a:ext cx="28575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common-base">
            <a:extLst xmlns:a="http://schemas.openxmlformats.org/drawingml/2006/main">
              <a:ext uri="{FF2B5EF4-FFF2-40B4-BE49-F238E27FC236}">
                <a16:creationId xmlns:a16="http://schemas.microsoft.com/office/drawing/2014/main" id="{8CA83FBF-800A-4A38-B176-BC37148D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2762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11" name="standard-model-base">
            <a:extLst xmlns:a="http://schemas.openxmlformats.org/drawingml/2006/main">
              <a:ext uri="{FF2B5EF4-FFF2-40B4-BE49-F238E27FC236}">
                <a16:creationId xmlns:a16="http://schemas.microsoft.com/office/drawing/2014/main" id="{30CBBBA1-BE2F-45A5-963D-6E1486FE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91000"/>
            <a:ext cx="2762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12" name="bsm-base">
            <a:extLst xmlns:a="http://schemas.openxmlformats.org/drawingml/2006/main">
              <a:ext uri="{FF2B5EF4-FFF2-40B4-BE49-F238E27FC236}">
                <a16:creationId xmlns:a16="http://schemas.microsoft.com/office/drawing/2014/main" id="{C3A2950E-91A9-4590-A81E-1EA52D01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91000"/>
            <a:ext cx="2762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13" name="config-base">
            <a:extLst xmlns:a="http://schemas.openxmlformats.org/drawingml/2006/main">
              <a:ext uri="{FF2B5EF4-FFF2-40B4-BE49-F238E27FC236}">
                <a16:creationId xmlns:a16="http://schemas.microsoft.com/office/drawing/2014/main" id="{AEA9EA75-742E-4006-8565-6A7DF596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14" name="utilities-base">
            <a:extLst xmlns:a="http://schemas.openxmlformats.org/drawingml/2006/main">
              <a:ext uri="{FF2B5EF4-FFF2-40B4-BE49-F238E27FC236}">
                <a16:creationId xmlns:a16="http://schemas.microsoft.com/office/drawing/2014/main" id="{D2BB64A9-F63F-474C-8494-4E600FFD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6197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15" name="external-base">
            <a:extLst xmlns:a="http://schemas.openxmlformats.org/drawingml/2006/main">
              <a:ext uri="{FF2B5EF4-FFF2-40B4-BE49-F238E27FC236}">
                <a16:creationId xmlns:a16="http://schemas.microsoft.com/office/drawing/2014/main" id="{0F0A0284-0C24-44B9-B77C-F200AEAC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197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16" name="peanuts-base">
            <a:extLst xmlns:a="http://schemas.openxmlformats.org/drawingml/2006/main">
              <a:ext uri="{FF2B5EF4-FFF2-40B4-BE49-F238E27FC236}">
                <a16:creationId xmlns:a16="http://schemas.microsoft.com/office/drawing/2014/main" id="{EF511C0E-634E-4E9A-95B4-586170E6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6197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cxnSp>
        <p:nvCxnSpPr>
          <p:cNvPr id="67" name=""/>
          <p:cNvCxnSpPr>
            <a:stCxn xmlns:a="http://schemas.openxmlformats.org/drawingml/2006/main" id="2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2809875" y="2143125"/>
            <a:ext cx="123825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68" name=""/>
          <p:cNvCxnSpPr>
            <a:stCxn xmlns:a="http://schemas.openxmlformats.org/drawingml/2006/main" id="3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8143875" y="2143125"/>
            <a:ext cx="123825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6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191000" y="31242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7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477125" y="31242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71" name=""/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809875" y="3581400"/>
            <a:ext cx="4763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72" name=""/>
          <p:cNvCxnSpPr>
            <a:stCxn xmlns:a="http://schemas.openxmlformats.org/drawingml/2006/main" id="5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96000" y="3581400"/>
            <a:ext cx="4763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sp>
        <p:nvSpPr>
          <p:cNvPr id="23" name="application-layer">
            <a:extLst xmlns:a="http://schemas.openxmlformats.org/drawingml/2006/main">
              <a:ext uri="{FF2B5EF4-FFF2-40B4-BE49-F238E27FC236}">
                <a16:creationId xmlns:a16="http://schemas.microsoft.com/office/drawing/2014/main" id="{4E5C0305-F110-4C8C-8EC1-E52F8F65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00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659A"/>
                </a:solidFill>
              </a:defRPr>
            </a:pPr>
            <a:r>
              <a:rPr sz="1125" b="1">
                <a:solidFill>
                  <a:srgbClr val="12659A"/>
                </a:solidFill>
              </a:rPr>
              <a:t>APPLICATION LAYER</a:t>
            </a:r>
          </a:p>
        </p:txBody>
      </p:sp>
      <p:sp>
        <p:nvSpPr>
          <p:cNvPr id="24" name="domain-layer">
            <a:extLst xmlns:a="http://schemas.openxmlformats.org/drawingml/2006/main">
              <a:ext uri="{FF2B5EF4-FFF2-40B4-BE49-F238E27FC236}">
                <a16:creationId xmlns:a16="http://schemas.microsoft.com/office/drawing/2014/main" id="{6EAE78E6-19B7-4DAB-B147-406E6CF1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DOMAIN LAYER</a:t>
            </a:r>
          </a:p>
        </p:txBody>
      </p:sp>
      <p:sp>
        <p:nvSpPr>
          <p:cNvPr id="25" name="core-layer">
            <a:extLst xmlns:a="http://schemas.openxmlformats.org/drawingml/2006/main">
              <a:ext uri="{FF2B5EF4-FFF2-40B4-BE49-F238E27FC236}">
                <a16:creationId xmlns:a16="http://schemas.microsoft.com/office/drawing/2014/main" id="{A204FFCC-31F2-4769-98DA-20516DA2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659A"/>
                </a:solidFill>
              </a:defRPr>
            </a:pPr>
            <a:r>
              <a:rPr sz="1125" b="1">
                <a:solidFill>
                  <a:srgbClr val="12659A"/>
                </a:solidFill>
              </a:rPr>
              <a:t>CORE LAYER</a:t>
            </a:r>
          </a:p>
        </p:txBody>
      </p:sp>
      <p:sp>
        <p:nvSpPr>
          <p:cNvPr id="26" name="tools-layer">
            <a:extLst xmlns:a="http://schemas.openxmlformats.org/drawingml/2006/main">
              <a:ext uri="{FF2B5EF4-FFF2-40B4-BE49-F238E27FC236}">
                <a16:creationId xmlns:a16="http://schemas.microsoft.com/office/drawing/2014/main" id="{8F3C111A-1948-4FFF-8FA6-29CE89F9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TOOLS AND UTILITIES</a:t>
            </a:r>
          </a:p>
        </p:txBody>
      </p:sp>
      <p:sp>
        <p:nvSpPr>
          <p:cNvPr id="27" name="pipelines-title">
            <a:extLst xmlns:a="http://schemas.openxmlformats.org/drawingml/2006/main">
              <a:ext uri="{FF2B5EF4-FFF2-40B4-BE49-F238E27FC236}">
                <a16:creationId xmlns:a16="http://schemas.microsoft.com/office/drawing/2014/main" id="{EF3D79F7-ADF3-46E3-9DF9-AB7A6AEA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5049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Propagation pipelines</a:t>
            </a:r>
          </a:p>
        </p:txBody>
      </p:sp>
      <p:sp>
        <p:nvSpPr>
          <p:cNvPr id="28" name="pipelines-detail">
            <a:extLst xmlns:a="http://schemas.openxmlformats.org/drawingml/2006/main">
              <a:ext uri="{FF2B5EF4-FFF2-40B4-BE49-F238E27FC236}">
                <a16:creationId xmlns:a16="http://schemas.microsoft.com/office/drawing/2014/main" id="{6671A617-D632-4929-90A9-2E8009D1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8383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End-to-end solar and atmospheric workflows</a:t>
            </a:r>
          </a:p>
        </p:txBody>
      </p:sp>
      <p:sp>
        <p:nvSpPr>
          <p:cNvPr id="29" name="inference-title">
            <a:extLst xmlns:a="http://schemas.openxmlformats.org/drawingml/2006/main">
              <a:ext uri="{FF2B5EF4-FFF2-40B4-BE49-F238E27FC236}">
                <a16:creationId xmlns:a16="http://schemas.microsoft.com/office/drawing/2014/main" id="{AEE4A4D7-E5F0-4A23-BDD8-823505A2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5049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Inference</a:t>
            </a:r>
          </a:p>
        </p:txBody>
      </p:sp>
      <p:sp>
        <p:nvSpPr>
          <p:cNvPr id="30" name="inference-detail">
            <a:extLst xmlns:a="http://schemas.openxmlformats.org/drawingml/2006/main">
              <a:ext uri="{FF2B5EF4-FFF2-40B4-BE49-F238E27FC236}">
                <a16:creationId xmlns:a16="http://schemas.microsoft.com/office/drawing/2014/main" id="{48DF31C3-19B2-4BC3-8061-94FABA27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383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Differentiable models · Likelihoods · Fits</a:t>
            </a:r>
          </a:p>
        </p:txBody>
      </p:sp>
      <p:sp>
        <p:nvSpPr>
          <p:cNvPr id="31" name="sources-title">
            <a:extLst xmlns:a="http://schemas.openxmlformats.org/drawingml/2006/main">
              <a:ext uri="{FF2B5EF4-FFF2-40B4-BE49-F238E27FC236}">
                <a16:creationId xmlns:a16="http://schemas.microsoft.com/office/drawing/2014/main" id="{4C705069-1AC0-44C9-8ED3-89FA3392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908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Neutrino sources</a:t>
            </a:r>
          </a:p>
        </p:txBody>
      </p:sp>
      <p:sp>
        <p:nvSpPr>
          <p:cNvPr id="32" name="sources-detail">
            <a:extLst xmlns:a="http://schemas.openxmlformats.org/drawingml/2006/main">
              <a:ext uri="{FF2B5EF4-FFF2-40B4-BE49-F238E27FC236}">
                <a16:creationId xmlns:a16="http://schemas.microsoft.com/office/drawing/2014/main" id="{BEA9F49C-6699-40E4-804D-B4E08214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2420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Solar · Atmospheric · Reactor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Production spectra and fluxes</a:t>
            </a:r>
          </a:p>
        </p:txBody>
      </p:sp>
      <p:sp>
        <p:nvSpPr>
          <p:cNvPr id="33" name="media-title">
            <a:extLst xmlns:a="http://schemas.openxmlformats.org/drawingml/2006/main">
              <a:ext uri="{FF2B5EF4-FFF2-40B4-BE49-F238E27FC236}">
                <a16:creationId xmlns:a16="http://schemas.microsoft.com/office/drawing/2014/main" id="{744DF530-26CD-42E8-B39E-C5F2ED6D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7908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Propagation media</a:t>
            </a:r>
          </a:p>
        </p:txBody>
      </p:sp>
      <p:sp>
        <p:nvSpPr>
          <p:cNvPr id="34" name="media-detail">
            <a:extLst xmlns:a="http://schemas.openxmlformats.org/drawingml/2006/main">
              <a:ext uri="{FF2B5EF4-FFF2-40B4-BE49-F238E27FC236}">
                <a16:creationId xmlns:a16="http://schemas.microsoft.com/office/drawing/2014/main" id="{95698766-F73E-4966-BEA7-FADA8A2A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2420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Vacuum · Solar · Earth · Atmosphere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Geometry, density and evolution</a:t>
            </a:r>
          </a:p>
        </p:txBody>
      </p:sp>
      <p:sp>
        <p:nvSpPr>
          <p:cNvPr id="35" name="detectors-title">
            <a:extLst xmlns:a="http://schemas.openxmlformats.org/drawingml/2006/main">
              <a:ext uri="{FF2B5EF4-FFF2-40B4-BE49-F238E27FC236}">
                <a16:creationId xmlns:a16="http://schemas.microsoft.com/office/drawing/2014/main" id="{A5A22818-03C8-4834-B7EE-E1F492F9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908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Detector models</a:t>
            </a:r>
          </a:p>
        </p:txBody>
      </p:sp>
      <p:sp>
        <p:nvSpPr>
          <p:cNvPr id="36" name="detectors-detail">
            <a:extLst xmlns:a="http://schemas.openxmlformats.org/drawingml/2006/main">
              <a:ext uri="{FF2B5EF4-FFF2-40B4-BE49-F238E27FC236}">
                <a16:creationId xmlns:a16="http://schemas.microsoft.com/office/drawing/2014/main" id="{3C1DEDEB-AD3C-4267-881E-C00DE4BB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2420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Responses · Observables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SNO · Borexino · IceCube · Daya Bay</a:t>
            </a:r>
          </a:p>
        </p:txBody>
      </p:sp>
      <p:sp>
        <p:nvSpPr>
          <p:cNvPr id="37" name="common-title">
            <a:extLst xmlns:a="http://schemas.openxmlformats.org/drawingml/2006/main">
              <a:ext uri="{FF2B5EF4-FFF2-40B4-BE49-F238E27FC236}">
                <a16:creationId xmlns:a16="http://schemas.microsoft.com/office/drawing/2014/main" id="{BDC7A0C4-0AFA-4AE8-8DE9-A454B321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148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Common</a:t>
            </a:r>
          </a:p>
        </p:txBody>
      </p:sp>
      <p:sp>
        <p:nvSpPr>
          <p:cNvPr id="38" name="common-detail">
            <a:extLst xmlns:a="http://schemas.openxmlformats.org/drawingml/2006/main">
              <a:ext uri="{FF2B5EF4-FFF2-40B4-BE49-F238E27FC236}">
                <a16:creationId xmlns:a16="http://schemas.microsoft.com/office/drawing/2014/main" id="{7AD4FFA3-11A5-44E5-9280-9D1CD93D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482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PMNS · Potentials · Hamiltonian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Fluxes · Probabilities</a:t>
            </a:r>
          </a:p>
        </p:txBody>
      </p:sp>
      <p:sp>
        <p:nvSpPr>
          <p:cNvPr id="39" name="standard-model-title">
            <a:extLst xmlns:a="http://schemas.openxmlformats.org/drawingml/2006/main">
              <a:ext uri="{FF2B5EF4-FFF2-40B4-BE49-F238E27FC236}">
                <a16:creationId xmlns:a16="http://schemas.microsoft.com/office/drawing/2014/main" id="{D17B99AA-1BC3-4D91-9D33-9315F37F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3148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Standard Model</a:t>
            </a:r>
          </a:p>
        </p:txBody>
      </p:sp>
      <p:sp>
        <p:nvSpPr>
          <p:cNvPr id="40" name="standard-model-detail">
            <a:extLst xmlns:a="http://schemas.openxmlformats.org/drawingml/2006/main">
              <a:ext uri="{FF2B5EF4-FFF2-40B4-BE49-F238E27FC236}">
                <a16:creationId xmlns:a16="http://schemas.microsoft.com/office/drawing/2014/main" id="{A7F33E1D-4B5E-4876-B4BC-E6007FF4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6482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Three-flavour mixing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Standard mass spectrum</a:t>
            </a:r>
          </a:p>
        </p:txBody>
      </p:sp>
      <p:sp>
        <p:nvSpPr>
          <p:cNvPr id="41" name="bsm-title">
            <a:extLst xmlns:a="http://schemas.openxmlformats.org/drawingml/2006/main">
              <a:ext uri="{FF2B5EF4-FFF2-40B4-BE49-F238E27FC236}">
                <a16:creationId xmlns:a16="http://schemas.microsoft.com/office/drawing/2014/main" id="{8B6375A9-18B8-45BE-94FA-600FEB3F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148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Beyond Standard Model</a:t>
            </a:r>
          </a:p>
        </p:txBody>
      </p:sp>
      <p:sp>
        <p:nvSpPr>
          <p:cNvPr id="42" name="bsm-detail">
            <a:extLst xmlns:a="http://schemas.openxmlformats.org/drawingml/2006/main">
              <a:ext uri="{FF2B5EF4-FFF2-40B4-BE49-F238E27FC236}">
                <a16:creationId xmlns:a16="http://schemas.microsoft.com/office/drawing/2014/main" id="{5DAAFC39-0F38-4DDF-9422-6145F930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482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NSI · Sterile · Majorana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Extended mass spectra</a:t>
            </a:r>
          </a:p>
        </p:txBody>
      </p:sp>
      <p:sp>
        <p:nvSpPr>
          <p:cNvPr id="43" name="config-title">
            <a:extLst xmlns:a="http://schemas.openxmlformats.org/drawingml/2006/main">
              <a:ext uri="{FF2B5EF4-FFF2-40B4-BE49-F238E27FC236}">
                <a16:creationId xmlns:a16="http://schemas.microsoft.com/office/drawing/2014/main" id="{05CB9A2B-DE26-4D9D-8724-EBA1BD50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Config</a:t>
            </a:r>
          </a:p>
        </p:txBody>
      </p:sp>
      <p:sp>
        <p:nvSpPr>
          <p:cNvPr id="44" name="config-detail">
            <a:extLst xmlns:a="http://schemas.openxmlformats.org/drawingml/2006/main">
              <a:ext uri="{FF2B5EF4-FFF2-40B4-BE49-F238E27FC236}">
                <a16:creationId xmlns:a16="http://schemas.microsoft.com/office/drawing/2014/main" id="{2A3F1225-A821-48F9-8E76-FC04DDC2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Defaults · Presets · Propagation</a:t>
            </a:r>
          </a:p>
        </p:txBody>
      </p:sp>
      <p:sp>
        <p:nvSpPr>
          <p:cNvPr id="45" name="utilities-title">
            <a:extLst xmlns:a="http://schemas.openxmlformats.org/drawingml/2006/main">
              <a:ext uri="{FF2B5EF4-FFF2-40B4-BE49-F238E27FC236}">
                <a16:creationId xmlns:a16="http://schemas.microsoft.com/office/drawing/2014/main" id="{6DE008BD-FE61-4D77-8A7D-2D274263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695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Utilities</a:t>
            </a:r>
          </a:p>
        </p:txBody>
      </p:sp>
      <p:sp>
        <p:nvSpPr>
          <p:cNvPr id="46" name="utilities-detail">
            <a:extLst xmlns:a="http://schemas.openxmlformats.org/drawingml/2006/main">
              <a:ext uri="{FF2B5EF4-FFF2-40B4-BE49-F238E27FC236}">
                <a16:creationId xmlns:a16="http://schemas.microsoft.com/office/drawing/2014/main" id="{BFDD5563-77CB-4398-8413-3E1D9E8F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9436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Tensor types · Context · Math · I/O</a:t>
            </a:r>
          </a:p>
        </p:txBody>
      </p:sp>
      <p:sp>
        <p:nvSpPr>
          <p:cNvPr id="47" name="external-title">
            <a:extLst xmlns:a="http://schemas.openxmlformats.org/drawingml/2006/main">
              <a:ext uri="{FF2B5EF4-FFF2-40B4-BE49-F238E27FC236}">
                <a16:creationId xmlns:a16="http://schemas.microsoft.com/office/drawing/2014/main" id="{CE76E60D-9E74-4731-857E-6360A944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95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External data</a:t>
            </a:r>
          </a:p>
        </p:txBody>
      </p:sp>
      <p:sp>
        <p:nvSpPr>
          <p:cNvPr id="48" name="external-detail">
            <a:extLst xmlns:a="http://schemas.openxmlformats.org/drawingml/2006/main">
              <a:ext uri="{FF2B5EF4-FFF2-40B4-BE49-F238E27FC236}">
                <a16:creationId xmlns:a16="http://schemas.microsoft.com/office/drawing/2014/main" id="{91DD695B-50F9-4763-930C-1323E84B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9436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nuSQuIDS · MCEq · Honda · PyMSIS</a:t>
            </a:r>
          </a:p>
        </p:txBody>
      </p:sp>
      <p:sp>
        <p:nvSpPr>
          <p:cNvPr id="49" name="peanuts-title">
            <a:extLst xmlns:a="http://schemas.openxmlformats.org/drawingml/2006/main">
              <a:ext uri="{FF2B5EF4-FFF2-40B4-BE49-F238E27FC236}">
                <a16:creationId xmlns:a16="http://schemas.microsoft.com/office/drawing/2014/main" id="{FC7993AA-5A30-4EBB-82C7-E74FBAF1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695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Peanuts</a:t>
            </a:r>
          </a:p>
        </p:txBody>
      </p:sp>
      <p:sp>
        <p:nvSpPr>
          <p:cNvPr id="50" name="peanuts-detail">
            <a:extLst xmlns:a="http://schemas.openxmlformats.org/drawingml/2006/main">
              <a:ext uri="{FF2B5EF4-FFF2-40B4-BE49-F238E27FC236}">
                <a16:creationId xmlns:a16="http://schemas.microsoft.com/office/drawing/2014/main" id="{9ACD0AF4-03AC-4F54-96BE-81384B32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9436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Legacy validation and compatibility</a:t>
            </a:r>
          </a:p>
        </p:txBody>
      </p:sp>
    </p:spTree>
    <p:extLst>
      <p:ext uri="{BB962C8B-B14F-4D97-AF65-F5344CB8AC3E}">
        <p14:creationId xmlns:p14="http://schemas.microsoft.com/office/powerpoint/2010/main" val="12429116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2026-08-30T21:36:38.5900000Z</dcterms:created>
  <dcterms:modified xsi:type="dcterms:W3CDTF">2026-08-30T21:36:38.5900000Z</dcterms:modified>
</coreProperties>
</file>