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fa8fa509304d50" /><Relationship Type="http://schemas.openxmlformats.org/officeDocument/2006/relationships/extended-properties" Target="/docProps/app.xml" Id="R7c40ba6f05f043c4" /><Relationship Type="http://schemas.openxmlformats.org/officeDocument/2006/relationships/officeDocument" Target="/ppt/presentation.xml" Id="R9239cd2f02b245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f0865b99e54b1a"/>
  </p:sldMasterIdLst>
  <p:notesMasterIdLst>
    <p:notesMasterId xmlns:r="http://schemas.openxmlformats.org/officeDocument/2006/relationships" r:id="R8337f2d8067043c9"/>
  </p:notesMasterIdLst>
  <p:sldIdLst>
    <p:sldId xmlns:r="http://schemas.openxmlformats.org/officeDocument/2006/relationships" id="256" r:id="R8088d45e3a594f1b"/>
    <p:sldId xmlns:r="http://schemas.openxmlformats.org/officeDocument/2006/relationships" id="257" r:id="Rd00710d95b5d42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e5179021284a14" /><Relationship Type="http://schemas.openxmlformats.org/officeDocument/2006/relationships/slideMaster" Target="/ppt/slideMasters/slideMaster1.xml" Id="R59f0865b99e54b1a" /><Relationship Type="http://schemas.openxmlformats.org/officeDocument/2006/relationships/notesMaster" Target="/ppt/notesMasters/notesMaster1.xml" Id="R8337f2d8067043c9" /><Relationship Type="http://schemas.openxmlformats.org/officeDocument/2006/relationships/presProps" Target="/ppt/presProps.xml" Id="R8f765b1226e048d4" /><Relationship Type="http://schemas.openxmlformats.org/officeDocument/2006/relationships/tableStyles" Target="/ppt/tableStyles.xml" Id="R395ffbde39e14fac" /><Relationship Type="http://schemas.openxmlformats.org/officeDocument/2006/relationships/slide" Target="/ppt/slides/slide1.xml" Id="R8088d45e3a594f1b" /><Relationship Type="http://schemas.openxmlformats.org/officeDocument/2006/relationships/slide" Target="/ppt/slides/slide2.xml" Id="Rd00710d95b5d42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b00b38ae9b4b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02473d4cee4af4" /><Relationship Type="http://schemas.openxmlformats.org/officeDocument/2006/relationships/notesMaster" Target="/ppt/notesMasters/notesMaster1.xml" Id="R2bd91e41ff0f4f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2801d052a84926" /><Relationship Type="http://schemas.openxmlformats.org/officeDocument/2006/relationships/notesMaster" Target="/ppt/notesMasters/notesMaster1.xml" Id="R8aab471c55e14a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ee7d2048e43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b19f6f606e483f" /><Relationship Type="http://schemas.openxmlformats.org/officeDocument/2006/relationships/slideLayout" Target="/ppt/slideLayouts/slideLayout1.xml" Id="R7e580ca9aab744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580ca9aab744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9835843734334" /><Relationship Type="http://schemas.openxmlformats.org/officeDocument/2006/relationships/notesSlide" Target="/ppt/notesSlides/notesSlide1.xml" Id="R42c6437254784a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9e3988acd447f" /><Relationship Type="http://schemas.openxmlformats.org/officeDocument/2006/relationships/notesSlide" Target="/ppt/notesSlides/notesSlide2.xml" Id="R11b4f313eeef4a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6472999-B0C8-4071-948D-F1CFABE3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MASTER'S THESIS DEFENSE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1AAA92-4CEA-40CB-99AA-944ED094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90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Tpeanuts modular architecture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0C595D8-FF0A-4126-91ED-EE1B37A1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A4A4A"/>
                </a:solidFill>
              </a:defRPr>
            </a:pPr>
            <a:r>
              <a:rPr sz="1875">
                <a:solidFill>
                  <a:srgbClr val="4A4A4A"/>
                </a:solidFill>
              </a:rPr>
              <a:t>A layered, differentiable framework for neutrino oscillation and flux propagation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9FFA870-BF6D-4720-8CDE-6CADAACE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accent-strong">
            <a:extLst xmlns:a="http://schemas.openxmlformats.org/drawingml/2006/main">
              <a:ext uri="{FF2B5EF4-FFF2-40B4-BE49-F238E27FC236}">
                <a16:creationId xmlns:a16="http://schemas.microsoft.com/office/drawing/2014/main" id="{ED976676-F7D0-4F8C-9B0A-6C7D7E4E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A6732EB4-4C46-4729-B449-459C7616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</a:defRPr>
            </a:pPr>
            <a:r>
              <a:rPr sz="1275">
                <a:solidFill>
                  <a:srgbClr val="666666"/>
                </a:solidFill>
              </a:rPr>
              <a:t>Torch-based scientific software · Python</a:t>
            </a:r>
          </a:p>
        </p:txBody>
      </p:sp>
    </p:spTree>
    <p:extLst>
      <p:ext uri="{BB962C8B-B14F-4D97-AF65-F5344CB8AC3E}">
        <p14:creationId xmlns:p14="http://schemas.microsoft.com/office/powerpoint/2010/main" val="6804386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0E58D1C2-2790-4B8E-85C6-763BFC87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Tpeanuts keeps scientific concerns modular</a:t>
            </a:r>
          </a:p>
        </p:txBody>
      </p:sp>
      <p:sp>
        <p:nvSpPr>
          <p:cNvPr id="2" name="pipelines-base">
            <a:extLst xmlns:a="http://schemas.openxmlformats.org/drawingml/2006/main">
              <a:ext uri="{FF2B5EF4-FFF2-40B4-BE49-F238E27FC236}">
                <a16:creationId xmlns:a16="http://schemas.microsoft.com/office/drawing/2014/main" id="{9586D6E9-1222-424C-8D78-2CC49E37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811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3" name="inference-base">
            <a:extLst xmlns:a="http://schemas.openxmlformats.org/drawingml/2006/main">
              <a:ext uri="{FF2B5EF4-FFF2-40B4-BE49-F238E27FC236}">
                <a16:creationId xmlns:a16="http://schemas.microsoft.com/office/drawing/2014/main" id="{93376A52-2C37-42CC-ACB7-D49CE699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4" name="sources-base">
            <a:extLst xmlns:a="http://schemas.openxmlformats.org/drawingml/2006/main">
              <a:ext uri="{FF2B5EF4-FFF2-40B4-BE49-F238E27FC236}">
                <a16:creationId xmlns:a16="http://schemas.microsoft.com/office/drawing/2014/main" id="{69CACE47-79E1-468B-92D8-45147649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5" name="media-base">
            <a:extLst xmlns:a="http://schemas.openxmlformats.org/drawingml/2006/main">
              <a:ext uri="{FF2B5EF4-FFF2-40B4-BE49-F238E27FC236}">
                <a16:creationId xmlns:a16="http://schemas.microsoft.com/office/drawing/2014/main" id="{0F3DF71A-AF15-4BAF-B892-08995F96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6" name="detectors-base">
            <a:extLst xmlns:a="http://schemas.openxmlformats.org/drawingml/2006/main">
              <a:ext uri="{FF2B5EF4-FFF2-40B4-BE49-F238E27FC236}">
                <a16:creationId xmlns:a16="http://schemas.microsoft.com/office/drawing/2014/main" id="{4D84FD1A-A8FE-44E9-87A7-042CB7BC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7" name="core-container">
            <a:extLst xmlns:a="http://schemas.openxmlformats.org/drawingml/2006/main">
              <a:ext uri="{FF2B5EF4-FFF2-40B4-BE49-F238E27FC236}">
                <a16:creationId xmlns:a16="http://schemas.microsoft.com/office/drawing/2014/main" id="{2D605CAD-FA26-459F-9AC8-F557366D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990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8" name="source-core-anchor">
            <a:extLst xmlns:a="http://schemas.openxmlformats.org/drawingml/2006/main">
              <a:ext uri="{FF2B5EF4-FFF2-40B4-BE49-F238E27FC236}">
                <a16:creationId xmlns:a16="http://schemas.microsoft.com/office/drawing/2014/main" id="{B41C2B47-9332-4063-AA33-87A74DA4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38575"/>
            <a:ext cx="28575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media-core-anchor">
            <a:extLst xmlns:a="http://schemas.openxmlformats.org/drawingml/2006/main">
              <a:ext uri="{FF2B5EF4-FFF2-40B4-BE49-F238E27FC236}">
                <a16:creationId xmlns:a16="http://schemas.microsoft.com/office/drawing/2014/main" id="{B4C07B81-AF2E-410D-849C-638DFDD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38575"/>
            <a:ext cx="28575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common-base">
            <a:extLst xmlns:a="http://schemas.openxmlformats.org/drawingml/2006/main">
              <a:ext uri="{FF2B5EF4-FFF2-40B4-BE49-F238E27FC236}">
                <a16:creationId xmlns:a16="http://schemas.microsoft.com/office/drawing/2014/main" id="{ED85EC96-9547-48CB-8B01-B20AE9C5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1" name="standard-model-base">
            <a:extLst xmlns:a="http://schemas.openxmlformats.org/drawingml/2006/main">
              <a:ext uri="{FF2B5EF4-FFF2-40B4-BE49-F238E27FC236}">
                <a16:creationId xmlns:a16="http://schemas.microsoft.com/office/drawing/2014/main" id="{64970529-4379-4B9A-B6F2-F31F26AF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2" name="bsm-base">
            <a:extLst xmlns:a="http://schemas.openxmlformats.org/drawingml/2006/main">
              <a:ext uri="{FF2B5EF4-FFF2-40B4-BE49-F238E27FC236}">
                <a16:creationId xmlns:a16="http://schemas.microsoft.com/office/drawing/2014/main" id="{F204C046-1073-4F38-9CDD-6A010686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3" name="config-base">
            <a:extLst xmlns:a="http://schemas.openxmlformats.org/drawingml/2006/main">
              <a:ext uri="{FF2B5EF4-FFF2-40B4-BE49-F238E27FC236}">
                <a16:creationId xmlns:a16="http://schemas.microsoft.com/office/drawing/2014/main" id="{AE1FC0F4-9C33-450E-9FB2-EAF9B723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4" name="utilities-base">
            <a:extLst xmlns:a="http://schemas.openxmlformats.org/drawingml/2006/main">
              <a:ext uri="{FF2B5EF4-FFF2-40B4-BE49-F238E27FC236}">
                <a16:creationId xmlns:a16="http://schemas.microsoft.com/office/drawing/2014/main" id="{71A2C80C-BEDE-45CD-9E54-9E0AEDEB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5" name="external-base">
            <a:extLst xmlns:a="http://schemas.openxmlformats.org/drawingml/2006/main">
              <a:ext uri="{FF2B5EF4-FFF2-40B4-BE49-F238E27FC236}">
                <a16:creationId xmlns:a16="http://schemas.microsoft.com/office/drawing/2014/main" id="{5DD429D9-51D1-49A4-A390-8E8959A9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6" name="peanuts-base">
            <a:extLst xmlns:a="http://schemas.openxmlformats.org/drawingml/2006/main">
              <a:ext uri="{FF2B5EF4-FFF2-40B4-BE49-F238E27FC236}">
                <a16:creationId xmlns:a16="http://schemas.microsoft.com/office/drawing/2014/main" id="{4122F25B-0F7B-4B4A-9E8B-2F927A3E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cxnSp>
        <p:nvCxnSpPr>
          <p:cNvPr id="67" name=""/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809875" y="2143125"/>
            <a:ext cx="1238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143875" y="2143125"/>
            <a:ext cx="1238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191000" y="3124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24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09875" y="3581400"/>
            <a:ext cx="4763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3581400"/>
            <a:ext cx="4763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sp>
        <p:nvSpPr>
          <p:cNvPr id="23" name="application-layer">
            <a:extLst xmlns:a="http://schemas.openxmlformats.org/drawingml/2006/main">
              <a:ext uri="{FF2B5EF4-FFF2-40B4-BE49-F238E27FC236}">
                <a16:creationId xmlns:a16="http://schemas.microsoft.com/office/drawing/2014/main" id="{7460D6D1-58D9-4AAF-9E76-EE4CC415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59A"/>
                </a:solidFill>
              </a:defRPr>
            </a:pPr>
            <a:r>
              <a:rPr sz="1125" b="1">
                <a:solidFill>
                  <a:srgbClr val="12659A"/>
                </a:solidFill>
              </a:rPr>
              <a:t>APPLICATION LAYER</a:t>
            </a:r>
          </a:p>
        </p:txBody>
      </p:sp>
      <p:sp>
        <p:nvSpPr>
          <p:cNvPr id="24" name="domain-layer">
            <a:extLst xmlns:a="http://schemas.openxmlformats.org/drawingml/2006/main">
              <a:ext uri="{FF2B5EF4-FFF2-40B4-BE49-F238E27FC236}">
                <a16:creationId xmlns:a16="http://schemas.microsoft.com/office/drawing/2014/main" id="{86486BB8-1A2C-4784-A570-A11359E8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DOMAIN LAYER</a:t>
            </a:r>
          </a:p>
        </p:txBody>
      </p:sp>
      <p:sp>
        <p:nvSpPr>
          <p:cNvPr id="25" name="core-layer">
            <a:extLst xmlns:a="http://schemas.openxmlformats.org/drawingml/2006/main">
              <a:ext uri="{FF2B5EF4-FFF2-40B4-BE49-F238E27FC236}">
                <a16:creationId xmlns:a16="http://schemas.microsoft.com/office/drawing/2014/main" id="{859BBBD1-5466-4C28-A549-CDD60F70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05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59A"/>
                </a:solidFill>
              </a:defRPr>
            </a:pPr>
            <a:r>
              <a:rPr sz="1125" b="1">
                <a:solidFill>
                  <a:srgbClr val="12659A"/>
                </a:solidFill>
              </a:rPr>
              <a:t>CORE</a:t>
            </a:r>
          </a:p>
        </p:txBody>
      </p:sp>
      <p:sp>
        <p:nvSpPr>
          <p:cNvPr id="26" name="tools-layer">
            <a:extLst xmlns:a="http://schemas.openxmlformats.org/drawingml/2006/main">
              <a:ext uri="{FF2B5EF4-FFF2-40B4-BE49-F238E27FC236}">
                <a16:creationId xmlns:a16="http://schemas.microsoft.com/office/drawing/2014/main" id="{319BAB71-5155-4BCC-9CA6-15003B45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TOOLS AND UTILITIES</a:t>
            </a:r>
          </a:p>
        </p:txBody>
      </p:sp>
      <p:sp>
        <p:nvSpPr>
          <p:cNvPr id="27" name="pipelines-title">
            <a:extLst xmlns:a="http://schemas.openxmlformats.org/drawingml/2006/main">
              <a:ext uri="{FF2B5EF4-FFF2-40B4-BE49-F238E27FC236}">
                <a16:creationId xmlns:a16="http://schemas.microsoft.com/office/drawing/2014/main" id="{867FA5AD-FFA2-41DB-BEEE-07EDF536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049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Propagation pipelines</a:t>
            </a:r>
          </a:p>
        </p:txBody>
      </p:sp>
      <p:sp>
        <p:nvSpPr>
          <p:cNvPr id="28" name="pipelines-detail">
            <a:extLst xmlns:a="http://schemas.openxmlformats.org/drawingml/2006/main">
              <a:ext uri="{FF2B5EF4-FFF2-40B4-BE49-F238E27FC236}">
                <a16:creationId xmlns:a16="http://schemas.microsoft.com/office/drawing/2014/main" id="{59D6E8D7-B6B7-4328-9409-4EA022DE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38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End-to-end solar and atmospheric workflows</a:t>
            </a:r>
          </a:p>
        </p:txBody>
      </p:sp>
      <p:sp>
        <p:nvSpPr>
          <p:cNvPr id="29" name="inference-title">
            <a:extLst xmlns:a="http://schemas.openxmlformats.org/drawingml/2006/main">
              <a:ext uri="{FF2B5EF4-FFF2-40B4-BE49-F238E27FC236}">
                <a16:creationId xmlns:a16="http://schemas.microsoft.com/office/drawing/2014/main" id="{942BBBAE-3E9D-4E74-9E4D-8B34C8AE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049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Inference</a:t>
            </a:r>
          </a:p>
        </p:txBody>
      </p:sp>
      <p:sp>
        <p:nvSpPr>
          <p:cNvPr id="30" name="inference-detail">
            <a:extLst xmlns:a="http://schemas.openxmlformats.org/drawingml/2006/main">
              <a:ext uri="{FF2B5EF4-FFF2-40B4-BE49-F238E27FC236}">
                <a16:creationId xmlns:a16="http://schemas.microsoft.com/office/drawing/2014/main" id="{B0CE1403-1695-4959-A286-EDD7941C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38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Differentiable models · Likelihoods · Fits</a:t>
            </a:r>
          </a:p>
        </p:txBody>
      </p:sp>
      <p:sp>
        <p:nvSpPr>
          <p:cNvPr id="31" name="sources-title">
            <a:extLst xmlns:a="http://schemas.openxmlformats.org/drawingml/2006/main">
              <a:ext uri="{FF2B5EF4-FFF2-40B4-BE49-F238E27FC236}">
                <a16:creationId xmlns:a16="http://schemas.microsoft.com/office/drawing/2014/main" id="{0B32D1CC-F0B0-4BDA-B785-8C58B50F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Neutrino sources</a:t>
            </a:r>
          </a:p>
        </p:txBody>
      </p:sp>
      <p:sp>
        <p:nvSpPr>
          <p:cNvPr id="32" name="sources-detail">
            <a:extLst xmlns:a="http://schemas.openxmlformats.org/drawingml/2006/main">
              <a:ext uri="{FF2B5EF4-FFF2-40B4-BE49-F238E27FC236}">
                <a16:creationId xmlns:a16="http://schemas.microsoft.com/office/drawing/2014/main" id="{13321A89-BE66-402C-A529-1BD7AF16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Solar · Atmospheric · Reactor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Production spectra and fluxes</a:t>
            </a:r>
          </a:p>
        </p:txBody>
      </p:sp>
      <p:sp>
        <p:nvSpPr>
          <p:cNvPr id="33" name="media-title">
            <a:extLst xmlns:a="http://schemas.openxmlformats.org/drawingml/2006/main">
              <a:ext uri="{FF2B5EF4-FFF2-40B4-BE49-F238E27FC236}">
                <a16:creationId xmlns:a16="http://schemas.microsoft.com/office/drawing/2014/main" id="{84872C18-3ABB-42B8-BBE4-952C38D0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Propagation media</a:t>
            </a:r>
          </a:p>
        </p:txBody>
      </p:sp>
      <p:sp>
        <p:nvSpPr>
          <p:cNvPr id="34" name="media-detail">
            <a:extLst xmlns:a="http://schemas.openxmlformats.org/drawingml/2006/main">
              <a:ext uri="{FF2B5EF4-FFF2-40B4-BE49-F238E27FC236}">
                <a16:creationId xmlns:a16="http://schemas.microsoft.com/office/drawing/2014/main" id="{80D8A5F4-F204-4537-8019-13686B74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Vacuum · Solar · Earth · Atmosphere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Geometry, density and evolution</a:t>
            </a:r>
          </a:p>
        </p:txBody>
      </p:sp>
      <p:sp>
        <p:nvSpPr>
          <p:cNvPr id="35" name="detectors-title">
            <a:extLst xmlns:a="http://schemas.openxmlformats.org/drawingml/2006/main">
              <a:ext uri="{FF2B5EF4-FFF2-40B4-BE49-F238E27FC236}">
                <a16:creationId xmlns:a16="http://schemas.microsoft.com/office/drawing/2014/main" id="{58F56BCC-2A1C-470E-9523-832B4B78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Detector models</a:t>
            </a:r>
          </a:p>
        </p:txBody>
      </p:sp>
      <p:sp>
        <p:nvSpPr>
          <p:cNvPr id="36" name="detectors-detail">
            <a:extLst xmlns:a="http://schemas.openxmlformats.org/drawingml/2006/main">
              <a:ext uri="{FF2B5EF4-FFF2-40B4-BE49-F238E27FC236}">
                <a16:creationId xmlns:a16="http://schemas.microsoft.com/office/drawing/2014/main" id="{282DAFF6-A787-481C-9EDE-93079FC3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Responses · Observables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SNO · Borexino · IceCube · Daya Bay</a:t>
            </a:r>
          </a:p>
        </p:txBody>
      </p:sp>
      <p:sp>
        <p:nvSpPr>
          <p:cNvPr id="37" name="common-title">
            <a:extLst xmlns:a="http://schemas.openxmlformats.org/drawingml/2006/main">
              <a:ext uri="{FF2B5EF4-FFF2-40B4-BE49-F238E27FC236}">
                <a16:creationId xmlns:a16="http://schemas.microsoft.com/office/drawing/2014/main" id="{66660379-74D6-456B-BA7C-7A33D369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Common</a:t>
            </a:r>
          </a:p>
        </p:txBody>
      </p:sp>
      <p:sp>
        <p:nvSpPr>
          <p:cNvPr id="38" name="common-detail">
            <a:extLst xmlns:a="http://schemas.openxmlformats.org/drawingml/2006/main">
              <a:ext uri="{FF2B5EF4-FFF2-40B4-BE49-F238E27FC236}">
                <a16:creationId xmlns:a16="http://schemas.microsoft.com/office/drawing/2014/main" id="{3E4829ED-D903-47C2-A4FD-CBBC1323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PMNS · Potentials · Hamiltonian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Fluxes · Probabilities</a:t>
            </a:r>
          </a:p>
        </p:txBody>
      </p:sp>
      <p:sp>
        <p:nvSpPr>
          <p:cNvPr id="39" name="standard-model-title">
            <a:extLst xmlns:a="http://schemas.openxmlformats.org/drawingml/2006/main">
              <a:ext uri="{FF2B5EF4-FFF2-40B4-BE49-F238E27FC236}">
                <a16:creationId xmlns:a16="http://schemas.microsoft.com/office/drawing/2014/main" id="{7E4F4057-F916-4857-A62D-223CF2D1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Standard Model</a:t>
            </a:r>
          </a:p>
        </p:txBody>
      </p:sp>
      <p:sp>
        <p:nvSpPr>
          <p:cNvPr id="40" name="standard-model-detail">
            <a:extLst xmlns:a="http://schemas.openxmlformats.org/drawingml/2006/main">
              <a:ext uri="{FF2B5EF4-FFF2-40B4-BE49-F238E27FC236}">
                <a16:creationId xmlns:a16="http://schemas.microsoft.com/office/drawing/2014/main" id="{26ECD987-EDEB-4E50-8589-77A6EF29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Three-flavour mixing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Standard mass spectrum</a:t>
            </a:r>
          </a:p>
        </p:txBody>
      </p:sp>
      <p:sp>
        <p:nvSpPr>
          <p:cNvPr id="41" name="bsm-title">
            <a:extLst xmlns:a="http://schemas.openxmlformats.org/drawingml/2006/main">
              <a:ext uri="{FF2B5EF4-FFF2-40B4-BE49-F238E27FC236}">
                <a16:creationId xmlns:a16="http://schemas.microsoft.com/office/drawing/2014/main" id="{533624F0-2729-4A84-97EC-7F89B165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Beyond Standard Model</a:t>
            </a:r>
          </a:p>
        </p:txBody>
      </p:sp>
      <p:sp>
        <p:nvSpPr>
          <p:cNvPr id="42" name="bsm-detail">
            <a:extLst xmlns:a="http://schemas.openxmlformats.org/drawingml/2006/main">
              <a:ext uri="{FF2B5EF4-FFF2-40B4-BE49-F238E27FC236}">
                <a16:creationId xmlns:a16="http://schemas.microsoft.com/office/drawing/2014/main" id="{0873B81F-1F33-441A-A50D-A272B32E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NSI · Sterile · Majorana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Extended mass spectra</a:t>
            </a:r>
          </a:p>
        </p:txBody>
      </p:sp>
      <p:sp>
        <p:nvSpPr>
          <p:cNvPr id="43" name="config-title">
            <a:extLst xmlns:a="http://schemas.openxmlformats.org/drawingml/2006/main">
              <a:ext uri="{FF2B5EF4-FFF2-40B4-BE49-F238E27FC236}">
                <a16:creationId xmlns:a16="http://schemas.microsoft.com/office/drawing/2014/main" id="{10FF8CFF-128B-491E-B911-AADB45F9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Config</a:t>
            </a:r>
          </a:p>
        </p:txBody>
      </p:sp>
      <p:sp>
        <p:nvSpPr>
          <p:cNvPr id="44" name="config-detail">
            <a:extLst xmlns:a="http://schemas.openxmlformats.org/drawingml/2006/main">
              <a:ext uri="{FF2B5EF4-FFF2-40B4-BE49-F238E27FC236}">
                <a16:creationId xmlns:a16="http://schemas.microsoft.com/office/drawing/2014/main" id="{01CD8943-B013-4545-AEAC-0888783C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Defaults · Presets · Propagation</a:t>
            </a:r>
          </a:p>
        </p:txBody>
      </p:sp>
      <p:sp>
        <p:nvSpPr>
          <p:cNvPr id="45" name="utilities-title">
            <a:extLst xmlns:a="http://schemas.openxmlformats.org/drawingml/2006/main">
              <a:ext uri="{FF2B5EF4-FFF2-40B4-BE49-F238E27FC236}">
                <a16:creationId xmlns:a16="http://schemas.microsoft.com/office/drawing/2014/main" id="{65E2BF34-241D-4BF9-A1D5-748C32E1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Utilities</a:t>
            </a:r>
          </a:p>
        </p:txBody>
      </p:sp>
      <p:sp>
        <p:nvSpPr>
          <p:cNvPr id="46" name="utilities-detail">
            <a:extLst xmlns:a="http://schemas.openxmlformats.org/drawingml/2006/main">
              <a:ext uri="{FF2B5EF4-FFF2-40B4-BE49-F238E27FC236}">
                <a16:creationId xmlns:a16="http://schemas.microsoft.com/office/drawing/2014/main" id="{40C88B27-3081-4749-BD32-89C1CBD4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Tensor types · Context · Math · I/O</a:t>
            </a:r>
          </a:p>
        </p:txBody>
      </p:sp>
      <p:sp>
        <p:nvSpPr>
          <p:cNvPr id="47" name="external-title">
            <a:extLst xmlns:a="http://schemas.openxmlformats.org/drawingml/2006/main">
              <a:ext uri="{FF2B5EF4-FFF2-40B4-BE49-F238E27FC236}">
                <a16:creationId xmlns:a16="http://schemas.microsoft.com/office/drawing/2014/main" id="{989A967B-3141-4930-B92D-80B667C3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External data</a:t>
            </a:r>
          </a:p>
        </p:txBody>
      </p:sp>
      <p:sp>
        <p:nvSpPr>
          <p:cNvPr id="48" name="external-detail">
            <a:extLst xmlns:a="http://schemas.openxmlformats.org/drawingml/2006/main">
              <a:ext uri="{FF2B5EF4-FFF2-40B4-BE49-F238E27FC236}">
                <a16:creationId xmlns:a16="http://schemas.microsoft.com/office/drawing/2014/main" id="{B22C267D-7BB2-4458-B8B8-5F60F372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nuSQuIDS · MCEq · Honda · PyMSIS</a:t>
            </a:r>
          </a:p>
        </p:txBody>
      </p:sp>
      <p:sp>
        <p:nvSpPr>
          <p:cNvPr id="49" name="peanuts-title">
            <a:extLst xmlns:a="http://schemas.openxmlformats.org/drawingml/2006/main">
              <a:ext uri="{FF2B5EF4-FFF2-40B4-BE49-F238E27FC236}">
                <a16:creationId xmlns:a16="http://schemas.microsoft.com/office/drawing/2014/main" id="{72038373-63BB-4F1C-84BD-7308A28E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Peanuts</a:t>
            </a:r>
          </a:p>
        </p:txBody>
      </p:sp>
      <p:sp>
        <p:nvSpPr>
          <p:cNvPr id="50" name="peanuts-detail">
            <a:extLst xmlns:a="http://schemas.openxmlformats.org/drawingml/2006/main">
              <a:ext uri="{FF2B5EF4-FFF2-40B4-BE49-F238E27FC236}">
                <a16:creationId xmlns:a16="http://schemas.microsoft.com/office/drawing/2014/main" id="{99FA3504-E128-46DD-B4E1-48D9163C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Legacy validation and compatibility</a:t>
            </a:r>
          </a:p>
        </p:txBody>
      </p:sp>
    </p:spTree>
    <p:extLst>
      <p:ext uri="{BB962C8B-B14F-4D97-AF65-F5344CB8AC3E}">
        <p14:creationId xmlns:p14="http://schemas.microsoft.com/office/powerpoint/2010/main" val="864784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2026-08-28T18:52:25.1220000Z</dcterms:created>
  <dcterms:modified xsi:type="dcterms:W3CDTF">2026-08-28T18:52:25.1220000Z</dcterms:modified>
</coreProperties>
</file>