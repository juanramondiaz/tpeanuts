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3b649dc6ca4606" /><Relationship Type="http://schemas.openxmlformats.org/officeDocument/2006/relationships/extended-properties" Target="/docProps/app.xml" Id="Re331bfb3e65f4e81" /><Relationship Type="http://schemas.openxmlformats.org/officeDocument/2006/relationships/officeDocument" Target="/ppt/presentation.xml" Id="Rd9230a2258f949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f7781ba0b04b37"/>
  </p:sldMasterIdLst>
  <p:notesMasterIdLst>
    <p:notesMasterId xmlns:r="http://schemas.openxmlformats.org/officeDocument/2006/relationships" r:id="R9d11a17ec92f4838"/>
  </p:notesMasterIdLst>
  <p:sldIdLst>
    <p:sldId xmlns:r="http://schemas.openxmlformats.org/officeDocument/2006/relationships" id="256" r:id="R998867a7c7d34dcd"/>
    <p:sldId xmlns:r="http://schemas.openxmlformats.org/officeDocument/2006/relationships" id="257" r:id="Rbf375f397edc43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3e66f14f6f4c44" /><Relationship Type="http://schemas.openxmlformats.org/officeDocument/2006/relationships/slideMaster" Target="/ppt/slideMasters/slideMaster1.xml" Id="R73f7781ba0b04b37" /><Relationship Type="http://schemas.openxmlformats.org/officeDocument/2006/relationships/notesMaster" Target="/ppt/notesMasters/notesMaster1.xml" Id="R9d11a17ec92f4838" /><Relationship Type="http://schemas.openxmlformats.org/officeDocument/2006/relationships/presProps" Target="/ppt/presProps.xml" Id="Re0d225688713466e" /><Relationship Type="http://schemas.openxmlformats.org/officeDocument/2006/relationships/tableStyles" Target="/ppt/tableStyles.xml" Id="Rccf696ad05f14155" /><Relationship Type="http://schemas.openxmlformats.org/officeDocument/2006/relationships/slide" Target="/ppt/slides/slide1.xml" Id="R998867a7c7d34dcd" /><Relationship Type="http://schemas.openxmlformats.org/officeDocument/2006/relationships/slide" Target="/ppt/slides/slide2.xml" Id="Rbf375f397edc43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ce672e349645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7ba20d3e3f40d3" /><Relationship Type="http://schemas.openxmlformats.org/officeDocument/2006/relationships/notesMaster" Target="/ppt/notesMasters/notesMaster1.xml" Id="R65e75315582c4c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7883029aec4105" /><Relationship Type="http://schemas.openxmlformats.org/officeDocument/2006/relationships/notesMaster" Target="/ppt/notesMasters/notesMaster1.xml" Id="Rac61aa3d607545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f4b58be4fc44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c879ff9c384caa" /><Relationship Type="http://schemas.openxmlformats.org/officeDocument/2006/relationships/slideLayout" Target="/ppt/slideLayouts/slideLayout1.xml" Id="Ra238bc7e0cd045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38bc7e0cd045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17e9aea05547c4" /><Relationship Type="http://schemas.openxmlformats.org/officeDocument/2006/relationships/notesSlide" Target="/ppt/notesSlides/notesSlide1.xml" Id="Ra30914f06f254b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ca095a85e482c" /><Relationship Type="http://schemas.openxmlformats.org/officeDocument/2006/relationships/notesSlide" Target="/ppt/notesSlides/notesSlide2.xml" Id="Rc7ccd4e45aae4e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89C6E2F8-2B6D-4996-8B1E-A82CF97E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MASTER'S THESIS DEFENSE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758BB31-2B78-4EF6-90DE-65B0768E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790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0000"/>
                </a:solidFill>
              </a:defRPr>
            </a:pPr>
            <a:r>
              <a:rPr sz="4350" b="1">
                <a:solidFill>
                  <a:srgbClr val="000000"/>
                </a:solidFill>
              </a:rPr>
              <a:t>Tpeanuts modular architecture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F537B64-C7B6-4DB3-8C86-14CEF029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4A4A4A"/>
                </a:solidFill>
              </a:defRPr>
            </a:pPr>
            <a:r>
              <a:rPr sz="1875">
                <a:solidFill>
                  <a:srgbClr val="4A4A4A"/>
                </a:solidFill>
              </a:rPr>
              <a:t>A layered, differentiable framework for neutrino oscillation and flux propagation</a:t>
            </a:r>
          </a:p>
        </p:txBody>
      </p:sp>
      <p:sp>
        <p:nvSpPr>
          <p:cNvPr id="4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B778A717-3A20-401F-AE51-18322775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accent-strong">
            <a:extLst xmlns:a="http://schemas.openxmlformats.org/drawingml/2006/main">
              <a:ext uri="{FF2B5EF4-FFF2-40B4-BE49-F238E27FC236}">
                <a16:creationId xmlns:a16="http://schemas.microsoft.com/office/drawing/2014/main" id="{C71CFB40-DEBB-4D3A-A892-E9B9B815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76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F3A8E825-5453-413D-8709-6CF41922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</a:defRPr>
            </a:pPr>
            <a:r>
              <a:rPr sz="1275">
                <a:solidFill>
                  <a:srgbClr val="666666"/>
                </a:solidFill>
              </a:rPr>
              <a:t>Torch-based scientific software · Python</a:t>
            </a:r>
          </a:p>
        </p:txBody>
      </p:sp>
    </p:spTree>
    <p:extLst>
      <p:ext uri="{BB962C8B-B14F-4D97-AF65-F5344CB8AC3E}">
        <p14:creationId xmlns:p14="http://schemas.microsoft.com/office/powerpoint/2010/main" val="2962661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architecture-title">
            <a:extLst xmlns:a="http://schemas.openxmlformats.org/drawingml/2006/main">
              <a:ext uri="{FF2B5EF4-FFF2-40B4-BE49-F238E27FC236}">
                <a16:creationId xmlns:a16="http://schemas.microsoft.com/office/drawing/2014/main" id="{D83441C2-5D3B-4CA9-A7C6-91397634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Tpeanuts keeps scientific concerns modular</a:t>
            </a:r>
          </a:p>
        </p:txBody>
      </p:sp>
      <p:sp>
        <p:nvSpPr>
          <p:cNvPr id="2" name="architecture-subtitle">
            <a:extLst xmlns:a="http://schemas.openxmlformats.org/drawingml/2006/main">
              <a:ext uri="{FF2B5EF4-FFF2-40B4-BE49-F238E27FC236}">
                <a16:creationId xmlns:a16="http://schemas.microsoft.com/office/drawing/2014/main" id="{BA3B4627-FADE-412E-82F6-B32BB4CC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A layered flow connects scientific domains to reusable physics and supporting tools.</a:t>
            </a:r>
          </a:p>
        </p:txBody>
      </p:sp>
      <p:sp>
        <p:nvSpPr>
          <p:cNvPr id="3" name="pipelines-base">
            <a:extLst xmlns:a="http://schemas.openxmlformats.org/drawingml/2006/main">
              <a:ext uri="{FF2B5EF4-FFF2-40B4-BE49-F238E27FC236}">
                <a16:creationId xmlns:a16="http://schemas.microsoft.com/office/drawing/2014/main" id="{CA447AB3-99AF-4CBF-B44C-BF04F811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381125"/>
            <a:ext cx="3333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5FC"/>
          </a:solidFill>
          <a:ln xmlns:a="http://schemas.openxmlformats.org/drawingml/2006/main" w="11430">
            <a:solidFill>
              <a:srgbClr val="6DCBF4"/>
            </a:solidFill>
            <a:prstDash val="solid"/>
          </a:ln>
        </p:spPr>
      </p:sp>
      <p:sp>
        <p:nvSpPr>
          <p:cNvPr id="4" name="inference-base">
            <a:extLst xmlns:a="http://schemas.openxmlformats.org/drawingml/2006/main">
              <a:ext uri="{FF2B5EF4-FFF2-40B4-BE49-F238E27FC236}">
                <a16:creationId xmlns:a16="http://schemas.microsoft.com/office/drawing/2014/main" id="{EC9FD722-E1B3-4DBC-8B53-B21872ED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381125"/>
            <a:ext cx="3333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5FC"/>
          </a:solidFill>
          <a:ln xmlns:a="http://schemas.openxmlformats.org/drawingml/2006/main" w="11430">
            <a:solidFill>
              <a:srgbClr val="6DCBF4"/>
            </a:solidFill>
            <a:prstDash val="solid"/>
          </a:ln>
        </p:spPr>
      </p:sp>
      <p:sp>
        <p:nvSpPr>
          <p:cNvPr id="5" name="sources-base">
            <a:extLst xmlns:a="http://schemas.openxmlformats.org/drawingml/2006/main">
              <a:ext uri="{FF2B5EF4-FFF2-40B4-BE49-F238E27FC236}">
                <a16:creationId xmlns:a16="http://schemas.microsoft.com/office/drawing/2014/main" id="{61AE6174-F736-4B20-875B-16D68803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6" name="media-base">
            <a:extLst xmlns:a="http://schemas.openxmlformats.org/drawingml/2006/main">
              <a:ext uri="{FF2B5EF4-FFF2-40B4-BE49-F238E27FC236}">
                <a16:creationId xmlns:a16="http://schemas.microsoft.com/office/drawing/2014/main" id="{B19D7DB2-82DE-4FFF-BF93-3187F0A9A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6700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7" name="detectors-base">
            <a:extLst xmlns:a="http://schemas.openxmlformats.org/drawingml/2006/main">
              <a:ext uri="{FF2B5EF4-FFF2-40B4-BE49-F238E27FC236}">
                <a16:creationId xmlns:a16="http://schemas.microsoft.com/office/drawing/2014/main" id="{04212E7A-B082-44C9-B0EF-C206B35C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6700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8" name="common-base">
            <a:extLst xmlns:a="http://schemas.openxmlformats.org/drawingml/2006/main">
              <a:ext uri="{FF2B5EF4-FFF2-40B4-BE49-F238E27FC236}">
                <a16:creationId xmlns:a16="http://schemas.microsoft.com/office/drawing/2014/main" id="{78FD0E77-C638-45F9-B48F-2DCE2C74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FF"/>
          </a:solidFill>
          <a:ln xmlns:a="http://schemas.openxmlformats.org/drawingml/2006/main" w="11430">
            <a:solidFill>
              <a:srgbClr val="3D8DFF"/>
            </a:solidFill>
            <a:prstDash val="solid"/>
          </a:ln>
        </p:spPr>
      </p:sp>
      <p:sp>
        <p:nvSpPr>
          <p:cNvPr id="9" name="standard-model-base">
            <a:extLst xmlns:a="http://schemas.openxmlformats.org/drawingml/2006/main">
              <a:ext uri="{FF2B5EF4-FFF2-40B4-BE49-F238E27FC236}">
                <a16:creationId xmlns:a16="http://schemas.microsoft.com/office/drawing/2014/main" id="{B5E55B4F-54D0-4A59-B319-96250EDE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09575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FF"/>
          </a:solidFill>
          <a:ln xmlns:a="http://schemas.openxmlformats.org/drawingml/2006/main" w="11430">
            <a:solidFill>
              <a:srgbClr val="3D8DFF"/>
            </a:solidFill>
            <a:prstDash val="solid"/>
          </a:ln>
        </p:spPr>
      </p:sp>
      <p:sp>
        <p:nvSpPr>
          <p:cNvPr id="10" name="bsm-base">
            <a:extLst xmlns:a="http://schemas.openxmlformats.org/drawingml/2006/main">
              <a:ext uri="{FF2B5EF4-FFF2-40B4-BE49-F238E27FC236}">
                <a16:creationId xmlns:a16="http://schemas.microsoft.com/office/drawing/2014/main" id="{6D6BC138-0348-420E-963C-FA47369A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9575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FF"/>
          </a:solidFill>
          <a:ln xmlns:a="http://schemas.openxmlformats.org/drawingml/2006/main" w="11430">
            <a:solidFill>
              <a:srgbClr val="3D8DFF"/>
            </a:solidFill>
            <a:prstDash val="solid"/>
          </a:ln>
        </p:spPr>
      </p:sp>
      <p:sp>
        <p:nvSpPr>
          <p:cNvPr id="11" name="config-base">
            <a:extLst xmlns:a="http://schemas.openxmlformats.org/drawingml/2006/main">
              <a:ext uri="{FF2B5EF4-FFF2-40B4-BE49-F238E27FC236}">
                <a16:creationId xmlns:a16="http://schemas.microsoft.com/office/drawing/2014/main" id="{93CB8073-9736-4413-85D6-213C459D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12" name="utilities-base">
            <a:extLst xmlns:a="http://schemas.openxmlformats.org/drawingml/2006/main">
              <a:ext uri="{FF2B5EF4-FFF2-40B4-BE49-F238E27FC236}">
                <a16:creationId xmlns:a16="http://schemas.microsoft.com/office/drawing/2014/main" id="{759B2D29-D44F-4D85-AFDE-01CD8B7F2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6197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13" name="external-base">
            <a:extLst xmlns:a="http://schemas.openxmlformats.org/drawingml/2006/main">
              <a:ext uri="{FF2B5EF4-FFF2-40B4-BE49-F238E27FC236}">
                <a16:creationId xmlns:a16="http://schemas.microsoft.com/office/drawing/2014/main" id="{80BBB658-0CA9-4D64-8B1E-1D8556B9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197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14" name="peanuts-base">
            <a:extLst xmlns:a="http://schemas.openxmlformats.org/drawingml/2006/main">
              <a:ext uri="{FF2B5EF4-FFF2-40B4-BE49-F238E27FC236}">
                <a16:creationId xmlns:a16="http://schemas.microsoft.com/office/drawing/2014/main" id="{BAD53584-AA1C-4774-A176-169F4CA2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6197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cxnSp>
        <p:nvCxnSpPr>
          <p:cNvPr id="64" name=""/>
          <p:cNvCxnSpPr>
            <a:stCxn xmlns:a="http://schemas.openxmlformats.org/drawingml/2006/main" id="3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 flipH="1">
            <a:off x="2809875" y="2143125"/>
            <a:ext cx="123825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A7A7A"/>
            </a:solidFill>
            <a:prstDash val="solid"/>
            <a:tailEnd type="arrow" w="sm" len="sm"/>
          </a:ln>
        </p:spPr>
      </p:cxnSp>
      <p:cxnSp>
        <p:nvCxnSpPr>
          <p:cNvPr id="65" name=""/>
          <p:cNvCxnSpPr>
            <a:stCxn xmlns:a="http://schemas.openxmlformats.org/drawingml/2006/main" id="4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8143875" y="2143125"/>
            <a:ext cx="123825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A7A7A"/>
            </a:solidFill>
            <a:prstDash val="solid"/>
            <a:tailEnd type="arrow" w="sm" len="sm"/>
          </a:ln>
        </p:spPr>
      </p:cxnSp>
      <p:cxnSp>
        <p:nvCxnSpPr>
          <p:cNvPr id="6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191000" y="31242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A7A7A"/>
            </a:solidFill>
            <a:prstDash val="solid"/>
            <a:tailEnd type="arrow" w="sm" len="sm"/>
          </a:ln>
        </p:spPr>
      </p:cxnSp>
      <p:cxnSp>
        <p:nvCxnSpPr>
          <p:cNvPr id="6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477125" y="31242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A7A7A"/>
            </a:solidFill>
            <a:prstDash val="solid"/>
            <a:tailEnd type="arrow" w="sm" len="sm"/>
          </a:ln>
        </p:spPr>
      </p:cxnSp>
      <p:cxnSp>
        <p:nvCxnSpPr>
          <p:cNvPr id="68" name=""/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2809875" y="3581400"/>
            <a:ext cx="0" cy="5143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A7A7A"/>
            </a:solidFill>
            <a:prstDash val="solid"/>
            <a:tailEnd type="arrow" w="sm" len="sm"/>
          </a:ln>
        </p:spPr>
      </p:cxnSp>
      <p:cxnSp>
        <p:nvCxnSpPr>
          <p:cNvPr id="69" name=""/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6096000" y="3581400"/>
            <a:ext cx="0" cy="5143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A7A7A"/>
            </a:solidFill>
            <a:prstDash val="solid"/>
            <a:tailEnd type="arrow" w="sm" len="sm"/>
          </a:ln>
        </p:spPr>
      </p:cxnSp>
      <p:cxnSp>
        <p:nvCxnSpPr>
          <p:cNvPr id="70" name=""/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9382125" y="3581400"/>
            <a:ext cx="0" cy="5143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A7A7A"/>
            </a:solidFill>
            <a:prstDash val="solid"/>
            <a:tailEnd type="arrow" w="sm" len="sm"/>
          </a:ln>
        </p:spPr>
      </p:cxnSp>
      <p:sp>
        <p:nvSpPr>
          <p:cNvPr id="22" name="application-layer">
            <a:extLst xmlns:a="http://schemas.openxmlformats.org/drawingml/2006/main">
              <a:ext uri="{FF2B5EF4-FFF2-40B4-BE49-F238E27FC236}">
                <a16:creationId xmlns:a16="http://schemas.microsoft.com/office/drawing/2014/main" id="{F3CF2C16-E482-4E18-85AF-65733E79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2001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659A"/>
                </a:solidFill>
              </a:defRPr>
            </a:pPr>
            <a:r>
              <a:rPr sz="1125" b="1">
                <a:solidFill>
                  <a:srgbClr val="12659A"/>
                </a:solidFill>
              </a:rPr>
              <a:t>APPLICATION LAYER</a:t>
            </a:r>
          </a:p>
        </p:txBody>
      </p:sp>
      <p:sp>
        <p:nvSpPr>
          <p:cNvPr id="23" name="domain-layer">
            <a:extLst xmlns:a="http://schemas.openxmlformats.org/drawingml/2006/main">
              <a:ext uri="{FF2B5EF4-FFF2-40B4-BE49-F238E27FC236}">
                <a16:creationId xmlns:a16="http://schemas.microsoft.com/office/drawing/2014/main" id="{115C3A78-D4B0-43D8-9719-137CADB0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574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DOMAIN LAYER</a:t>
            </a:r>
          </a:p>
        </p:txBody>
      </p:sp>
      <p:sp>
        <p:nvSpPr>
          <p:cNvPr id="24" name="core-layer">
            <a:extLst xmlns:a="http://schemas.openxmlformats.org/drawingml/2006/main">
              <a:ext uri="{FF2B5EF4-FFF2-40B4-BE49-F238E27FC236}">
                <a16:creationId xmlns:a16="http://schemas.microsoft.com/office/drawing/2014/main" id="{6074717B-B9FA-402A-B580-CF16EBD3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86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659A"/>
                </a:solidFill>
              </a:defRPr>
            </a:pPr>
            <a:r>
              <a:rPr sz="1125" b="1">
                <a:solidFill>
                  <a:srgbClr val="12659A"/>
                </a:solidFill>
              </a:rPr>
              <a:t>CORE</a:t>
            </a:r>
          </a:p>
        </p:txBody>
      </p:sp>
      <p:sp>
        <p:nvSpPr>
          <p:cNvPr id="25" name="tools-layer">
            <a:extLst xmlns:a="http://schemas.openxmlformats.org/drawingml/2006/main">
              <a:ext uri="{FF2B5EF4-FFF2-40B4-BE49-F238E27FC236}">
                <a16:creationId xmlns:a16="http://schemas.microsoft.com/office/drawing/2014/main" id="{7B48C4D1-D2E7-4280-96BF-097470FB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TOOLS AND UTILITIES</a:t>
            </a:r>
          </a:p>
        </p:txBody>
      </p:sp>
      <p:sp>
        <p:nvSpPr>
          <p:cNvPr id="26" name="pipelines-title">
            <a:extLst xmlns:a="http://schemas.openxmlformats.org/drawingml/2006/main">
              <a:ext uri="{FF2B5EF4-FFF2-40B4-BE49-F238E27FC236}">
                <a16:creationId xmlns:a16="http://schemas.microsoft.com/office/drawing/2014/main" id="{8138E01D-4873-490E-97A3-AD1D160C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504950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659A"/>
                </a:solidFill>
              </a:defRPr>
            </a:pPr>
            <a:r>
              <a:rPr sz="1650" b="1">
                <a:solidFill>
                  <a:srgbClr val="12659A"/>
                </a:solidFill>
              </a:rPr>
              <a:t>Propagation pipelines</a:t>
            </a:r>
          </a:p>
        </p:txBody>
      </p:sp>
      <p:sp>
        <p:nvSpPr>
          <p:cNvPr id="27" name="pipelines-detail">
            <a:extLst xmlns:a="http://schemas.openxmlformats.org/drawingml/2006/main">
              <a:ext uri="{FF2B5EF4-FFF2-40B4-BE49-F238E27FC236}">
                <a16:creationId xmlns:a16="http://schemas.microsoft.com/office/drawing/2014/main" id="{B0B4E526-2431-421B-A4A9-294CE359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838325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End-to-end solar and atmospheric workflows</a:t>
            </a:r>
          </a:p>
        </p:txBody>
      </p:sp>
      <p:sp>
        <p:nvSpPr>
          <p:cNvPr id="28" name="inference-title">
            <a:extLst xmlns:a="http://schemas.openxmlformats.org/drawingml/2006/main">
              <a:ext uri="{FF2B5EF4-FFF2-40B4-BE49-F238E27FC236}">
                <a16:creationId xmlns:a16="http://schemas.microsoft.com/office/drawing/2014/main" id="{0C83C7CE-15D9-4377-B98D-C13518A9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504950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659A"/>
                </a:solidFill>
              </a:defRPr>
            </a:pPr>
            <a:r>
              <a:rPr sz="1650" b="1">
                <a:solidFill>
                  <a:srgbClr val="12659A"/>
                </a:solidFill>
              </a:rPr>
              <a:t>Inference</a:t>
            </a:r>
          </a:p>
        </p:txBody>
      </p:sp>
      <p:sp>
        <p:nvSpPr>
          <p:cNvPr id="29" name="inference-detail">
            <a:extLst xmlns:a="http://schemas.openxmlformats.org/drawingml/2006/main">
              <a:ext uri="{FF2B5EF4-FFF2-40B4-BE49-F238E27FC236}">
                <a16:creationId xmlns:a16="http://schemas.microsoft.com/office/drawing/2014/main" id="{D529FE63-7AAE-499F-AAA4-6DAEF827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38325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Differentiable models · Likelihoods · Fits</a:t>
            </a:r>
          </a:p>
        </p:txBody>
      </p:sp>
      <p:sp>
        <p:nvSpPr>
          <p:cNvPr id="30" name="sources-title">
            <a:extLst xmlns:a="http://schemas.openxmlformats.org/drawingml/2006/main">
              <a:ext uri="{FF2B5EF4-FFF2-40B4-BE49-F238E27FC236}">
                <a16:creationId xmlns:a16="http://schemas.microsoft.com/office/drawing/2014/main" id="{8AD7C73F-1472-4C08-BAC4-422803E7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90825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Neutrino sources</a:t>
            </a:r>
          </a:p>
        </p:txBody>
      </p:sp>
      <p:sp>
        <p:nvSpPr>
          <p:cNvPr id="31" name="sources-detail">
            <a:extLst xmlns:a="http://schemas.openxmlformats.org/drawingml/2006/main">
              <a:ext uri="{FF2B5EF4-FFF2-40B4-BE49-F238E27FC236}">
                <a16:creationId xmlns:a16="http://schemas.microsoft.com/office/drawing/2014/main" id="{BD8A685F-A8F3-4260-9F4D-D3B4F597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124200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Solar · Atmospheric · Reactor</a:t>
            </a:r>
          </a:p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Production spectra and fluxes</a:t>
            </a:r>
          </a:p>
        </p:txBody>
      </p:sp>
      <p:sp>
        <p:nvSpPr>
          <p:cNvPr id="32" name="media-title">
            <a:extLst xmlns:a="http://schemas.openxmlformats.org/drawingml/2006/main">
              <a:ext uri="{FF2B5EF4-FFF2-40B4-BE49-F238E27FC236}">
                <a16:creationId xmlns:a16="http://schemas.microsoft.com/office/drawing/2014/main" id="{F50B8E34-8A45-493D-8215-051F21E1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790825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Propagation media</a:t>
            </a:r>
          </a:p>
        </p:txBody>
      </p:sp>
      <p:sp>
        <p:nvSpPr>
          <p:cNvPr id="33" name="media-detail">
            <a:extLst xmlns:a="http://schemas.openxmlformats.org/drawingml/2006/main">
              <a:ext uri="{FF2B5EF4-FFF2-40B4-BE49-F238E27FC236}">
                <a16:creationId xmlns:a16="http://schemas.microsoft.com/office/drawing/2014/main" id="{2272E551-F475-44B4-9E8C-33FD1CC0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124200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Vacuum · Solar · Earth · Atmosphere</a:t>
            </a:r>
          </a:p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Geometry, density and evolution</a:t>
            </a:r>
          </a:p>
        </p:txBody>
      </p:sp>
      <p:sp>
        <p:nvSpPr>
          <p:cNvPr id="34" name="detectors-title">
            <a:extLst xmlns:a="http://schemas.openxmlformats.org/drawingml/2006/main">
              <a:ext uri="{FF2B5EF4-FFF2-40B4-BE49-F238E27FC236}">
                <a16:creationId xmlns:a16="http://schemas.microsoft.com/office/drawing/2014/main" id="{3BD23C1C-7914-4DCF-91F0-B30433E0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90825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Detector models</a:t>
            </a:r>
          </a:p>
        </p:txBody>
      </p:sp>
      <p:sp>
        <p:nvSpPr>
          <p:cNvPr id="35" name="detectors-detail">
            <a:extLst xmlns:a="http://schemas.openxmlformats.org/drawingml/2006/main">
              <a:ext uri="{FF2B5EF4-FFF2-40B4-BE49-F238E27FC236}">
                <a16:creationId xmlns:a16="http://schemas.microsoft.com/office/drawing/2014/main" id="{F84DB52B-997A-44CD-9B9F-EA4BA473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24200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Responses · Observables</a:t>
            </a:r>
          </a:p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SNO · Borexino · IceCube</a:t>
            </a:r>
          </a:p>
        </p:txBody>
      </p:sp>
      <p:sp>
        <p:nvSpPr>
          <p:cNvPr id="36" name="common-title">
            <a:extLst xmlns:a="http://schemas.openxmlformats.org/drawingml/2006/main">
              <a:ext uri="{FF2B5EF4-FFF2-40B4-BE49-F238E27FC236}">
                <a16:creationId xmlns:a16="http://schemas.microsoft.com/office/drawing/2014/main" id="{3B5EB256-3EB6-47BB-A754-F38E4C69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219575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659A"/>
                </a:solidFill>
              </a:defRPr>
            </a:pPr>
            <a:r>
              <a:rPr sz="1650" b="1">
                <a:solidFill>
                  <a:srgbClr val="12659A"/>
                </a:solidFill>
              </a:rPr>
              <a:t>Common</a:t>
            </a:r>
          </a:p>
        </p:txBody>
      </p:sp>
      <p:sp>
        <p:nvSpPr>
          <p:cNvPr id="37" name="common-detail">
            <a:extLst xmlns:a="http://schemas.openxmlformats.org/drawingml/2006/main">
              <a:ext uri="{FF2B5EF4-FFF2-40B4-BE49-F238E27FC236}">
                <a16:creationId xmlns:a16="http://schemas.microsoft.com/office/drawing/2014/main" id="{739D0835-BEE9-4052-ACDF-BEE0B7A9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52950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Hamiltonians · Potentials</a:t>
            </a:r>
          </a:p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Fluxes · Probabilities · PMNS</a:t>
            </a:r>
          </a:p>
        </p:txBody>
      </p:sp>
      <p:sp>
        <p:nvSpPr>
          <p:cNvPr id="38" name="standard-model-title">
            <a:extLst xmlns:a="http://schemas.openxmlformats.org/drawingml/2006/main">
              <a:ext uri="{FF2B5EF4-FFF2-40B4-BE49-F238E27FC236}">
                <a16:creationId xmlns:a16="http://schemas.microsoft.com/office/drawing/2014/main" id="{368D9AE7-1DCF-43BA-BCE3-250080F1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219575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659A"/>
                </a:solidFill>
              </a:defRPr>
            </a:pPr>
            <a:r>
              <a:rPr sz="1650" b="1">
                <a:solidFill>
                  <a:srgbClr val="12659A"/>
                </a:solidFill>
              </a:rPr>
              <a:t>Standard Model</a:t>
            </a:r>
          </a:p>
        </p:txBody>
      </p:sp>
      <p:sp>
        <p:nvSpPr>
          <p:cNvPr id="39" name="standard-model-detail">
            <a:extLst xmlns:a="http://schemas.openxmlformats.org/drawingml/2006/main">
              <a:ext uri="{FF2B5EF4-FFF2-40B4-BE49-F238E27FC236}">
                <a16:creationId xmlns:a16="http://schemas.microsoft.com/office/drawing/2014/main" id="{8A4A0668-463F-4763-96C1-C9CFC00F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552950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Three-flavour mixing</a:t>
            </a:r>
          </a:p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Standard mass spectrum</a:t>
            </a:r>
          </a:p>
        </p:txBody>
      </p:sp>
      <p:sp>
        <p:nvSpPr>
          <p:cNvPr id="40" name="bsm-title">
            <a:extLst xmlns:a="http://schemas.openxmlformats.org/drawingml/2006/main">
              <a:ext uri="{FF2B5EF4-FFF2-40B4-BE49-F238E27FC236}">
                <a16:creationId xmlns:a16="http://schemas.microsoft.com/office/drawing/2014/main" id="{797FC96C-3405-467B-9CB0-DCDAC32F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19575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659A"/>
                </a:solidFill>
              </a:defRPr>
            </a:pPr>
            <a:r>
              <a:rPr sz="1650" b="1">
                <a:solidFill>
                  <a:srgbClr val="12659A"/>
                </a:solidFill>
              </a:rPr>
              <a:t>Beyond Standard Model</a:t>
            </a:r>
          </a:p>
        </p:txBody>
      </p:sp>
      <p:sp>
        <p:nvSpPr>
          <p:cNvPr id="41" name="bsm-detail">
            <a:extLst xmlns:a="http://schemas.openxmlformats.org/drawingml/2006/main">
              <a:ext uri="{FF2B5EF4-FFF2-40B4-BE49-F238E27FC236}">
                <a16:creationId xmlns:a16="http://schemas.microsoft.com/office/drawing/2014/main" id="{4DACA589-72E2-498E-B092-0D55A5A8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52950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NSI · Sterile · Majorana</a:t>
            </a:r>
          </a:p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Extended mass spectra</a:t>
            </a:r>
          </a:p>
        </p:txBody>
      </p:sp>
      <p:sp>
        <p:nvSpPr>
          <p:cNvPr id="42" name="config-title">
            <a:extLst xmlns:a="http://schemas.openxmlformats.org/drawingml/2006/main">
              <a:ext uri="{FF2B5EF4-FFF2-40B4-BE49-F238E27FC236}">
                <a16:creationId xmlns:a16="http://schemas.microsoft.com/office/drawing/2014/main" id="{C4A649A7-5088-48CE-A4DF-4059F1C1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9595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Config</a:t>
            </a:r>
          </a:p>
        </p:txBody>
      </p:sp>
      <p:sp>
        <p:nvSpPr>
          <p:cNvPr id="43" name="config-detail">
            <a:extLst xmlns:a="http://schemas.openxmlformats.org/drawingml/2006/main">
              <a:ext uri="{FF2B5EF4-FFF2-40B4-BE49-F238E27FC236}">
                <a16:creationId xmlns:a16="http://schemas.microsoft.com/office/drawing/2014/main" id="{237ED480-FBC7-4470-870B-D6EB5850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2114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Defaults · Presets · Propagation</a:t>
            </a:r>
          </a:p>
        </p:txBody>
      </p:sp>
      <p:sp>
        <p:nvSpPr>
          <p:cNvPr id="44" name="utilities-title">
            <a:extLst xmlns:a="http://schemas.openxmlformats.org/drawingml/2006/main">
              <a:ext uri="{FF2B5EF4-FFF2-40B4-BE49-F238E27FC236}">
                <a16:creationId xmlns:a16="http://schemas.microsoft.com/office/drawing/2014/main" id="{4A684DF9-D792-405B-92DD-839FBFD0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69595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Utilities</a:t>
            </a:r>
          </a:p>
        </p:txBody>
      </p:sp>
      <p:sp>
        <p:nvSpPr>
          <p:cNvPr id="45" name="utilities-detail">
            <a:extLst xmlns:a="http://schemas.openxmlformats.org/drawingml/2006/main">
              <a:ext uri="{FF2B5EF4-FFF2-40B4-BE49-F238E27FC236}">
                <a16:creationId xmlns:a16="http://schemas.microsoft.com/office/drawing/2014/main" id="{32E959E2-BAC3-4EC2-B124-956207CC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943600"/>
            <a:ext cx="2114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Tensor types · Context · Math · I/O</a:t>
            </a:r>
          </a:p>
        </p:txBody>
      </p:sp>
      <p:sp>
        <p:nvSpPr>
          <p:cNvPr id="46" name="external-title">
            <a:extLst xmlns:a="http://schemas.openxmlformats.org/drawingml/2006/main">
              <a:ext uri="{FF2B5EF4-FFF2-40B4-BE49-F238E27FC236}">
                <a16:creationId xmlns:a16="http://schemas.microsoft.com/office/drawing/2014/main" id="{E90DDF32-3AC0-498F-BA67-60D1B89F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69595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External data</a:t>
            </a:r>
          </a:p>
        </p:txBody>
      </p:sp>
      <p:sp>
        <p:nvSpPr>
          <p:cNvPr id="47" name="external-detail">
            <a:extLst xmlns:a="http://schemas.openxmlformats.org/drawingml/2006/main">
              <a:ext uri="{FF2B5EF4-FFF2-40B4-BE49-F238E27FC236}">
                <a16:creationId xmlns:a16="http://schemas.microsoft.com/office/drawing/2014/main" id="{2FD16B60-BD30-4829-B3C3-2668E98A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943600"/>
            <a:ext cx="2114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nuSQuIDS · MCEq · Honda · PyMSIS</a:t>
            </a:r>
          </a:p>
        </p:txBody>
      </p:sp>
      <p:sp>
        <p:nvSpPr>
          <p:cNvPr id="48" name="peanuts-title">
            <a:extLst xmlns:a="http://schemas.openxmlformats.org/drawingml/2006/main">
              <a:ext uri="{FF2B5EF4-FFF2-40B4-BE49-F238E27FC236}">
                <a16:creationId xmlns:a16="http://schemas.microsoft.com/office/drawing/2014/main" id="{FFFC0FF0-58CC-405C-8FD8-59EB63CD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569595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Peanuts</a:t>
            </a:r>
          </a:p>
        </p:txBody>
      </p:sp>
      <p:sp>
        <p:nvSpPr>
          <p:cNvPr id="49" name="peanuts-detail">
            <a:extLst xmlns:a="http://schemas.openxmlformats.org/drawingml/2006/main">
              <a:ext uri="{FF2B5EF4-FFF2-40B4-BE49-F238E27FC236}">
                <a16:creationId xmlns:a16="http://schemas.microsoft.com/office/drawing/2014/main" id="{D67B35DE-6443-4F1F-9327-EC97A784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5943600"/>
            <a:ext cx="2114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Legacy validation and compatibility</a:t>
            </a:r>
          </a:p>
        </p:txBody>
      </p:sp>
    </p:spTree>
    <p:extLst>
      <p:ext uri="{BB962C8B-B14F-4D97-AF65-F5344CB8AC3E}">
        <p14:creationId xmlns:p14="http://schemas.microsoft.com/office/powerpoint/2010/main" val="6707889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2026-08-26T18:10:48.0330000Z</dcterms:created>
  <dcterms:modified xsi:type="dcterms:W3CDTF">2026-08-26T18:10:48.0330000Z</dcterms:modified>
</coreProperties>
</file>