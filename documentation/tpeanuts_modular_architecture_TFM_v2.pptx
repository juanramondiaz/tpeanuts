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8e3a4170644a0" /><Relationship Type="http://schemas.openxmlformats.org/officeDocument/2006/relationships/extended-properties" Target="/docProps/app.xml" Id="R65ac5008b6c94ea4" /><Relationship Type="http://schemas.openxmlformats.org/officeDocument/2006/relationships/officeDocument" Target="/ppt/presentation.xml" Id="R4b71098b9be148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f1e37bf00348c1"/>
  </p:sldMasterIdLst>
  <p:notesMasterIdLst>
    <p:notesMasterId xmlns:r="http://schemas.openxmlformats.org/officeDocument/2006/relationships" r:id="R9756153b476d400c"/>
  </p:notesMasterIdLst>
  <p:sldIdLst>
    <p:sldId xmlns:r="http://schemas.openxmlformats.org/officeDocument/2006/relationships" id="256" r:id="R41c43ca4ea1c4258"/>
    <p:sldId xmlns:r="http://schemas.openxmlformats.org/officeDocument/2006/relationships" id="257" r:id="Rf8c74ee4a9db44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385d2979ad42c9" /><Relationship Type="http://schemas.openxmlformats.org/officeDocument/2006/relationships/slideMaster" Target="/ppt/slideMasters/slideMaster1.xml" Id="R26f1e37bf00348c1" /><Relationship Type="http://schemas.openxmlformats.org/officeDocument/2006/relationships/notesMaster" Target="/ppt/notesMasters/notesMaster1.xml" Id="R9756153b476d400c" /><Relationship Type="http://schemas.openxmlformats.org/officeDocument/2006/relationships/presProps" Target="/ppt/presProps.xml" Id="R32380add061147b3" /><Relationship Type="http://schemas.openxmlformats.org/officeDocument/2006/relationships/tableStyles" Target="/ppt/tableStyles.xml" Id="R739d468e5d994316" /><Relationship Type="http://schemas.openxmlformats.org/officeDocument/2006/relationships/slide" Target="/ppt/slides/slide1.xml" Id="R41c43ca4ea1c4258" /><Relationship Type="http://schemas.openxmlformats.org/officeDocument/2006/relationships/slide" Target="/ppt/slides/slide2.xml" Id="Rf8c74ee4a9db44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d4182813c545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724247ccd64696" /><Relationship Type="http://schemas.openxmlformats.org/officeDocument/2006/relationships/notesMaster" Target="/ppt/notesMasters/notesMaster1.xml" Id="Rbacf1a3cdab3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5e151a0a1d486f" /><Relationship Type="http://schemas.openxmlformats.org/officeDocument/2006/relationships/notesMaster" Target="/ppt/notesMasters/notesMaster1.xml" Id="Rff97a3dc8420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5c8adc9024b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f733ccdca4ecc" /><Relationship Type="http://schemas.openxmlformats.org/officeDocument/2006/relationships/slideLayout" Target="/ppt/slideLayouts/slideLayout1.xml" Id="R35f6b3ed9bfc4a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6b3ed9bfc4a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36718102949ca" /><Relationship Type="http://schemas.openxmlformats.org/officeDocument/2006/relationships/notesSlide" Target="/ppt/notesSlides/notesSlide1.xml" Id="R28dcd0faf5fa4c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3225cd0c446da" /><Relationship Type="http://schemas.openxmlformats.org/officeDocument/2006/relationships/notesSlide" Target="/ppt/notesSlides/notesSlide2.xml" Id="R8e65a25e672044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22ADEC5-9B2F-488F-8D3B-58331300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95FA086-AA5F-4BAA-ACD8-630E768C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E0E1BE0-0643-4D5E-B8AC-DA8D9DD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FB5CE3B-FAD3-42F7-9B9F-EC9634F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EE391BAB-8564-48B5-A816-742BD72C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024D17F-AD09-4E61-A800-4BABA28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926094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D99615DF-AB9E-4BB3-8DE4-DEDA510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CA69394B-759B-401F-A65F-9BE5B24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High-level workflows compose independent source, medium and physics components.</a:t>
            </a:r>
          </a:p>
        </p:txBody>
      </p:sp>
      <p:sp>
        <p:nvSpPr>
          <p:cNvPr id="3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CE05346E-1198-40E7-8A8D-4BAADC8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F0B200B6-907F-4044-AB11-B03C852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39E8F3C8-44D9-40CB-A8A8-D99214D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049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6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0A638E8A-6FFB-4ED2-A41C-9B6ECE15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media-base">
            <a:extLst xmlns:a="http://schemas.openxmlformats.org/drawingml/2006/main">
              <a:ext uri="{FF2B5EF4-FFF2-40B4-BE49-F238E27FC236}">
                <a16:creationId xmlns:a16="http://schemas.microsoft.com/office/drawing/2014/main" id="{DFE01B84-738F-40F1-9CD0-989A408E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physics-core-base">
            <a:extLst xmlns:a="http://schemas.openxmlformats.org/drawingml/2006/main">
              <a:ext uri="{FF2B5EF4-FFF2-40B4-BE49-F238E27FC236}">
                <a16:creationId xmlns:a16="http://schemas.microsoft.com/office/drawing/2014/main" id="{A38D4718-E648-4A49-A6B1-533CE6F7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09925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foundations-base">
            <a:extLst xmlns:a="http://schemas.openxmlformats.org/drawingml/2006/main">
              <a:ext uri="{FF2B5EF4-FFF2-40B4-BE49-F238E27FC236}">
                <a16:creationId xmlns:a16="http://schemas.microsoft.com/office/drawing/2014/main" id="{CE6A9E8B-59C0-49FB-8F89-309C8678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52625"/>
            <a:ext cx="114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0" name="integration-base">
            <a:extLst xmlns:a="http://schemas.openxmlformats.org/drawingml/2006/main">
              <a:ext uri="{FF2B5EF4-FFF2-40B4-BE49-F238E27FC236}">
                <a16:creationId xmlns:a16="http://schemas.microsoft.com/office/drawing/2014/main" id="{CDAF5272-099F-44F2-9E5C-9EAA713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143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1" name="legacy-base">
            <a:extLst xmlns:a="http://schemas.openxmlformats.org/drawingml/2006/main">
              <a:ext uri="{FF2B5EF4-FFF2-40B4-BE49-F238E27FC236}">
                <a16:creationId xmlns:a16="http://schemas.microsoft.com/office/drawing/2014/main" id="{D7CD0E38-56E5-4AF3-A10D-63476A6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43500"/>
            <a:ext cx="866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A9A9A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48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144000" y="25717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33875" y="3743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81875" y="3743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447800" y="3343275"/>
            <a:ext cx="33623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10429875" y="3343275"/>
            <a:ext cx="31432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096000" y="4276725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8B8B8B"/>
            </a:solidFill>
            <a:prstDash val="dash"/>
            <a:tailEnd type="arrow" w="sm" len="sm"/>
          </a:ln>
        </p:spPr>
      </p:cxnSp>
      <p:sp>
        <p:nvSpPr>
          <p:cNvPr id="20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F834BF8E-81F3-402E-920A-428D6FE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257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1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CC936BDD-172D-4C51-B10D-28E32309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622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&amp; COMPUTATION LAYER</a:t>
            </a:r>
          </a:p>
        </p:txBody>
      </p:sp>
      <p:sp>
        <p:nvSpPr>
          <p:cNvPr id="22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74573B80-613E-4A90-946B-BDF646F6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3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9B8F15D7-4A6B-4E6D-84FA-DF9F6EE0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Combined end-to-end workflows</a:t>
            </a:r>
          </a:p>
        </p:txBody>
      </p:sp>
      <p:sp>
        <p:nvSpPr>
          <p:cNvPr id="24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FA3E378F-CAE8-488C-800B-C8FC7DF6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25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E1A2C6BF-7080-4D49-A5C2-067375CA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Likelihoods · Fits · Scans</a:t>
            </a:r>
          </a:p>
        </p:txBody>
      </p:sp>
      <p:sp>
        <p:nvSpPr>
          <p:cNvPr id="26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0E52654B-F430-46FE-B3D1-D1E79E8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28775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Detector models</a:t>
            </a:r>
          </a:p>
        </p:txBody>
      </p:sp>
      <p:sp>
        <p:nvSpPr>
          <p:cNvPr id="27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185A7E43-107A-4F90-AE71-AC594964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621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28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86999F50-B29E-4B4F-ABE8-E374392B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29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FE33A1F2-924A-40EE-995C-DC234DC7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0" name="media-title">
            <a:extLst xmlns:a="http://schemas.openxmlformats.org/drawingml/2006/main">
              <a:ext uri="{FF2B5EF4-FFF2-40B4-BE49-F238E27FC236}">
                <a16:creationId xmlns:a16="http://schemas.microsoft.com/office/drawing/2014/main" id="{5A6224BC-7AFE-4C57-9157-6FC57D4E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1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2B634250-D1A5-4632-8080-E0EE936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2" name="core-title">
            <a:extLst xmlns:a="http://schemas.openxmlformats.org/drawingml/2006/main">
              <a:ext uri="{FF2B5EF4-FFF2-40B4-BE49-F238E27FC236}">
                <a16:creationId xmlns:a16="http://schemas.microsoft.com/office/drawing/2014/main" id="{48FA37C9-8099-4EB4-9D58-0E28460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337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Physics core</a:t>
            </a:r>
          </a:p>
        </p:txBody>
      </p:sp>
      <p:sp>
        <p:nvSpPr>
          <p:cNvPr id="33" name="core-detail">
            <a:extLst xmlns:a="http://schemas.openxmlformats.org/drawingml/2006/main">
              <a:ext uri="{FF2B5EF4-FFF2-40B4-BE49-F238E27FC236}">
                <a16:creationId xmlns:a16="http://schemas.microsoft.com/office/drawing/2014/main" id="{F44BA71E-A079-488B-A3B8-53AD3F90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67125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Hamiltonians · PMNS · Potentials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SM/BSM models · Numerical solvers</a:t>
            </a:r>
          </a:p>
        </p:txBody>
      </p:sp>
      <p:sp>
        <p:nvSpPr>
          <p:cNvPr id="34" name="foundations-title">
            <a:extLst xmlns:a="http://schemas.openxmlformats.org/drawingml/2006/main">
              <a:ext uri="{FF2B5EF4-FFF2-40B4-BE49-F238E27FC236}">
                <a16:creationId xmlns:a16="http://schemas.microsoft.com/office/drawing/2014/main" id="{A520DFAD-7CF6-4D57-A18D-AB38CAF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CONFIG &amp;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35" name="foundations-detail">
            <a:extLst xmlns:a="http://schemas.openxmlformats.org/drawingml/2006/main">
              <a:ext uri="{FF2B5EF4-FFF2-40B4-BE49-F238E27FC236}">
                <a16:creationId xmlns:a16="http://schemas.microsoft.com/office/drawing/2014/main" id="{92950687-2142-42E8-9F77-D2E955CA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95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Configuration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Tensor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Runtime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Math &amp; I/O</a:t>
            </a:r>
          </a:p>
        </p:txBody>
      </p:sp>
      <p:sp>
        <p:nvSpPr>
          <p:cNvPr id="36" name="integration-title">
            <a:extLst xmlns:a="http://schemas.openxmlformats.org/drawingml/2006/main">
              <a:ext uri="{FF2B5EF4-FFF2-40B4-BE49-F238E27FC236}">
                <a16:creationId xmlns:a16="http://schemas.microsoft.com/office/drawing/2014/main" id="{639A64FA-7A9E-4FDD-B848-08A8C6A2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955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EXTERNAL &amp;</a:t>
            </a:r>
          </a:p>
          <a:p xmlns:a="http://schemas.openxmlformats.org/drawingml/2006/main">
            <a:pPr algn="ct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37" name="integration-detail">
            <a:extLst xmlns:a="http://schemas.openxmlformats.org/drawingml/2006/main">
              <a:ext uri="{FF2B5EF4-FFF2-40B4-BE49-F238E27FC236}">
                <a16:creationId xmlns:a16="http://schemas.microsoft.com/office/drawing/2014/main" id="{1F8851C9-C3B3-4EA3-8A72-8077586B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686050"/>
            <a:ext cx="95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Reference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nuSQuIDS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MCEq · Honda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PyMSIS</a:t>
            </a:r>
          </a:p>
        </p:txBody>
      </p:sp>
      <p:sp>
        <p:nvSpPr>
          <p:cNvPr id="38" name="legacy-title">
            <a:extLst xmlns:a="http://schemas.openxmlformats.org/drawingml/2006/main">
              <a:ext uri="{FF2B5EF4-FFF2-40B4-BE49-F238E27FC236}">
                <a16:creationId xmlns:a16="http://schemas.microsoft.com/office/drawing/2014/main" id="{63DC2FEE-B034-41C1-B990-71BBCAA5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Legacy compatibility and validation</a:t>
            </a:r>
          </a:p>
        </p:txBody>
      </p:sp>
      <p:sp>
        <p:nvSpPr>
          <p:cNvPr id="39" name="legacy-detail">
            <a:extLst xmlns:a="http://schemas.openxmlformats.org/drawingml/2006/main">
              <a:ext uri="{FF2B5EF4-FFF2-40B4-BE49-F238E27FC236}">
                <a16:creationId xmlns:a16="http://schemas.microsoft.com/office/drawing/2014/main" id="{0C467093-0995-4199-AD3F-9A941251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48275"/>
            <a:ext cx="528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The NumPy/Numba peanuts package provides regression checks and backward compatibility.</a:t>
            </a:r>
          </a:p>
        </p:txBody>
      </p:sp>
      <p:sp>
        <p:nvSpPr>
          <p:cNvPr id="40" name="flow-label">
            <a:extLst xmlns:a="http://schemas.openxmlformats.org/drawingml/2006/main">
              <a:ext uri="{FF2B5EF4-FFF2-40B4-BE49-F238E27FC236}">
                <a16:creationId xmlns:a16="http://schemas.microsoft.com/office/drawing/2014/main" id="{C8554276-2C58-47D6-84AE-18FA5F2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10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composition → propagation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351890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2026-08-26T18:02:45.4230000Z</dcterms:created>
  <dcterms:modified xsi:type="dcterms:W3CDTF">2026-08-26T18:02:45.4230000Z</dcterms:modified>
</coreProperties>
</file>