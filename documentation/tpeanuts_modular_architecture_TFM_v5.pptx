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a818ae60634cb8" /><Relationship Type="http://schemas.openxmlformats.org/officeDocument/2006/relationships/extended-properties" Target="/docProps/app.xml" Id="Rcd3e8badb09f45ed" /><Relationship Type="http://schemas.openxmlformats.org/officeDocument/2006/relationships/officeDocument" Target="/ppt/presentation.xml" Id="R9a2e9d6874b3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34d28b056b4010"/>
  </p:sldMasterIdLst>
  <p:notesMasterIdLst>
    <p:notesMasterId xmlns:r="http://schemas.openxmlformats.org/officeDocument/2006/relationships" r:id="Rcfcccb87098b4f5e"/>
  </p:notesMasterIdLst>
  <p:sldIdLst>
    <p:sldId xmlns:r="http://schemas.openxmlformats.org/officeDocument/2006/relationships" id="256" r:id="R9d5917b83ce5494c"/>
    <p:sldId xmlns:r="http://schemas.openxmlformats.org/officeDocument/2006/relationships" id="257" r:id="R13e032fe1d22479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f086957a54371" /><Relationship Type="http://schemas.openxmlformats.org/officeDocument/2006/relationships/slideMaster" Target="/ppt/slideMasters/slideMaster1.xml" Id="R3534d28b056b4010" /><Relationship Type="http://schemas.openxmlformats.org/officeDocument/2006/relationships/notesMaster" Target="/ppt/notesMasters/notesMaster1.xml" Id="Rcfcccb87098b4f5e" /><Relationship Type="http://schemas.openxmlformats.org/officeDocument/2006/relationships/presProps" Target="/ppt/presProps.xml" Id="Rd2d4363d91774dab" /><Relationship Type="http://schemas.openxmlformats.org/officeDocument/2006/relationships/tableStyles" Target="/ppt/tableStyles.xml" Id="R4122fde69f2e47ae" /><Relationship Type="http://schemas.openxmlformats.org/officeDocument/2006/relationships/slide" Target="/ppt/slides/slide1.xml" Id="R9d5917b83ce5494c" /><Relationship Type="http://schemas.openxmlformats.org/officeDocument/2006/relationships/slide" Target="/ppt/slides/slide2.xml" Id="R13e032fe1d2247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f44a7bd93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0d11018f6462b" /><Relationship Type="http://schemas.openxmlformats.org/officeDocument/2006/relationships/notesMaster" Target="/ppt/notesMasters/notesMaster1.xml" Id="Rdb1cc220395642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5f1dd5af1541b8" /><Relationship Type="http://schemas.openxmlformats.org/officeDocument/2006/relationships/notesMaster" Target="/ppt/notesMasters/notesMaster1.xml" Id="R9c526aaec13c41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d0cd7b37246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5402190f742e1" /><Relationship Type="http://schemas.openxmlformats.org/officeDocument/2006/relationships/slideLayout" Target="/ppt/slideLayouts/slideLayout1.xml" Id="R6013049b29ca40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3049b29ca40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3b08748a14f09" /><Relationship Type="http://schemas.openxmlformats.org/officeDocument/2006/relationships/notesSlide" Target="/ppt/notesSlides/notesSlide1.xml" Id="Rc2f2285495a1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b0537e5e94e9f" /><Relationship Type="http://schemas.openxmlformats.org/officeDocument/2006/relationships/notesSlide" Target="/ppt/notesSlides/notesSlide2.xml" Id="Rf235cd1584894b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FD2D08D-E6CC-44FF-A283-006E13B2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74B3184-DFBB-4D06-BB6E-E9F1CE62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63B19AD-4F5A-4AA8-B27C-CF8D67A6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2C14BCB-48E5-4350-BD6D-53615423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C94AC19F-9F50-4E16-A3A2-F6698986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4DB7804-D19B-4E5C-8E8D-CE847392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5663079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98DEEFD0-8D28-4296-BFD0-0A0C5230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5F4808A7-68F8-48B9-AD80-84252B81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5555"/>
                </a:solidFill>
              </a:defRPr>
            </a:pPr>
            <a:r>
              <a:rPr sz="1350">
                <a:solidFill>
                  <a:srgbClr val="555555"/>
                </a:solidFill>
              </a:rPr>
              <a:t>A layered flow connects scientific domains to reusable physics and supporting tools.</a:t>
            </a:r>
          </a:p>
        </p:txBody>
      </p:sp>
      <p:sp>
        <p:nvSpPr>
          <p:cNvPr id="3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34E54D05-8DD5-4A9B-B4B0-B2A38939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CF02823D-2AE6-494B-B4DB-02C9D5D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5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CA1EF06D-0E51-40E1-B97F-B0B65AF7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media-base">
            <a:extLst xmlns:a="http://schemas.openxmlformats.org/drawingml/2006/main">
              <a:ext uri="{FF2B5EF4-FFF2-40B4-BE49-F238E27FC236}">
                <a16:creationId xmlns:a16="http://schemas.microsoft.com/office/drawing/2014/main" id="{984931AD-C7CC-466C-A884-59879CB3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4BF3A78E-2057-4AC6-9E3D-5513E4E3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8" name="core-container">
            <a:extLst xmlns:a="http://schemas.openxmlformats.org/drawingml/2006/main">
              <a:ext uri="{FF2B5EF4-FFF2-40B4-BE49-F238E27FC236}">
                <a16:creationId xmlns:a16="http://schemas.microsoft.com/office/drawing/2014/main" id="{91E1F755-ED23-4F14-A754-F075976D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9" name="source-core-anchor">
            <a:extLst xmlns:a="http://schemas.openxmlformats.org/drawingml/2006/main">
              <a:ext uri="{FF2B5EF4-FFF2-40B4-BE49-F238E27FC236}">
                <a16:creationId xmlns:a16="http://schemas.microsoft.com/office/drawing/2014/main" id="{B572F473-3EF5-4B7E-AEF2-6D0D1AAE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media-core-anchor">
            <a:extLst xmlns:a="http://schemas.openxmlformats.org/drawingml/2006/main">
              <a:ext uri="{FF2B5EF4-FFF2-40B4-BE49-F238E27FC236}">
                <a16:creationId xmlns:a16="http://schemas.microsoft.com/office/drawing/2014/main" id="{AFEFDE82-1E43-46ED-8131-23509592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common-base">
            <a:extLst xmlns:a="http://schemas.openxmlformats.org/drawingml/2006/main">
              <a:ext uri="{FF2B5EF4-FFF2-40B4-BE49-F238E27FC236}">
                <a16:creationId xmlns:a16="http://schemas.microsoft.com/office/drawing/2014/main" id="{E9BC9D52-50EA-4AEE-86C6-539CF7A4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standard-model-base">
            <a:extLst xmlns:a="http://schemas.openxmlformats.org/drawingml/2006/main">
              <a:ext uri="{FF2B5EF4-FFF2-40B4-BE49-F238E27FC236}">
                <a16:creationId xmlns:a16="http://schemas.microsoft.com/office/drawing/2014/main" id="{F48F1AA2-A379-4235-A367-8A8705A1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3" name="bsm-base">
            <a:extLst xmlns:a="http://schemas.openxmlformats.org/drawingml/2006/main">
              <a:ext uri="{FF2B5EF4-FFF2-40B4-BE49-F238E27FC236}">
                <a16:creationId xmlns:a16="http://schemas.microsoft.com/office/drawing/2014/main" id="{3F2220BD-610C-479F-A43D-5B929E6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4" name="config-base">
            <a:extLst xmlns:a="http://schemas.openxmlformats.org/drawingml/2006/main">
              <a:ext uri="{FF2B5EF4-FFF2-40B4-BE49-F238E27FC236}">
                <a16:creationId xmlns:a16="http://schemas.microsoft.com/office/drawing/2014/main" id="{28886EC9-F2C3-4121-8700-9611EA23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utilities-base">
            <a:extLst xmlns:a="http://schemas.openxmlformats.org/drawingml/2006/main">
              <a:ext uri="{FF2B5EF4-FFF2-40B4-BE49-F238E27FC236}">
                <a16:creationId xmlns:a16="http://schemas.microsoft.com/office/drawing/2014/main" id="{7694F581-CDAA-48E0-9D1A-92BF75B9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6" name="external-base">
            <a:extLst xmlns:a="http://schemas.openxmlformats.org/drawingml/2006/main">
              <a:ext uri="{FF2B5EF4-FFF2-40B4-BE49-F238E27FC236}">
                <a16:creationId xmlns:a16="http://schemas.microsoft.com/office/drawing/2014/main" id="{16AA31FE-DC9A-4822-893A-E41CFB53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7" name="peanuts-base">
            <a:extLst xmlns:a="http://schemas.openxmlformats.org/drawingml/2006/main">
              <a:ext uri="{FF2B5EF4-FFF2-40B4-BE49-F238E27FC236}">
                <a16:creationId xmlns:a16="http://schemas.microsoft.com/office/drawing/2014/main" id="{9D98459F-D7CC-4672-AAE4-FE11BD0D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cxnSp>
        <p:nvCxnSpPr>
          <p:cNvPr id="69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809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143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91000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477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3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809875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4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sp>
        <p:nvSpPr>
          <p:cNvPr id="24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918680B4-EAB1-4769-B279-E38DF281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5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CBC7BFED-6002-4B66-B960-7D19C2C2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LAYER</a:t>
            </a:r>
          </a:p>
        </p:txBody>
      </p:sp>
      <p:sp>
        <p:nvSpPr>
          <p:cNvPr id="26" name="core-layer">
            <a:extLst xmlns:a="http://schemas.openxmlformats.org/drawingml/2006/main">
              <a:ext uri="{FF2B5EF4-FFF2-40B4-BE49-F238E27FC236}">
                <a16:creationId xmlns:a16="http://schemas.microsoft.com/office/drawing/2014/main" id="{C71A5784-0002-4842-AED3-A3610D63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CORE</a:t>
            </a:r>
          </a:p>
        </p:txBody>
      </p:sp>
      <p:sp>
        <p:nvSpPr>
          <p:cNvPr id="27" name="tools-layer">
            <a:extLst xmlns:a="http://schemas.openxmlformats.org/drawingml/2006/main">
              <a:ext uri="{FF2B5EF4-FFF2-40B4-BE49-F238E27FC236}">
                <a16:creationId xmlns:a16="http://schemas.microsoft.com/office/drawing/2014/main" id="{9A1611D7-2305-46AE-9E00-BB6F417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TOOLS AND UTILITIES</a:t>
            </a:r>
          </a:p>
        </p:txBody>
      </p:sp>
      <p:sp>
        <p:nvSpPr>
          <p:cNvPr id="28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AC3E5AFC-5307-4D8C-BD1B-2680251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9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5C66D3AA-E5A8-4B24-AB19-ECC21B3C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End-to-end solar and atmospheric workflows</a:t>
            </a:r>
          </a:p>
        </p:txBody>
      </p:sp>
      <p:sp>
        <p:nvSpPr>
          <p:cNvPr id="30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A5E8A631-0BEC-4DBD-96A2-58C0CA60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31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B3FAD921-7B64-45A5-A81A-72FB7E14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 · Likelihoods · Fits</a:t>
            </a:r>
          </a:p>
        </p:txBody>
      </p:sp>
      <p:sp>
        <p:nvSpPr>
          <p:cNvPr id="32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13F88061-05E4-4DDC-8CB9-658CA09E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33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0FC64917-6548-4BB7-B914-E36F50AD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4" name="media-title">
            <a:extLst xmlns:a="http://schemas.openxmlformats.org/drawingml/2006/main">
              <a:ext uri="{FF2B5EF4-FFF2-40B4-BE49-F238E27FC236}">
                <a16:creationId xmlns:a16="http://schemas.microsoft.com/office/drawing/2014/main" id="{DE357FCA-F106-4ED0-B29A-C209FE7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5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38608DB0-3FD7-4E55-AE67-CF4974FA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6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1F42C167-BE9E-4E69-87A6-AE30C0ED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Detector models</a:t>
            </a:r>
          </a:p>
        </p:txBody>
      </p:sp>
      <p:sp>
        <p:nvSpPr>
          <p:cNvPr id="37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F131A36F-EC34-4E5B-B4F2-E72DE77E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</a:t>
            </a:r>
          </a:p>
        </p:txBody>
      </p:sp>
      <p:sp>
        <p:nvSpPr>
          <p:cNvPr id="38" name="common-title">
            <a:extLst xmlns:a="http://schemas.openxmlformats.org/drawingml/2006/main">
              <a:ext uri="{FF2B5EF4-FFF2-40B4-BE49-F238E27FC236}">
                <a16:creationId xmlns:a16="http://schemas.microsoft.com/office/drawing/2014/main" id="{097BA8CD-A739-411E-91DA-66893350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Common</a:t>
            </a:r>
          </a:p>
        </p:txBody>
      </p:sp>
      <p:sp>
        <p:nvSpPr>
          <p:cNvPr id="39" name="common-detail">
            <a:extLst xmlns:a="http://schemas.openxmlformats.org/drawingml/2006/main">
              <a:ext uri="{FF2B5EF4-FFF2-40B4-BE49-F238E27FC236}">
                <a16:creationId xmlns:a16="http://schemas.microsoft.com/office/drawing/2014/main" id="{5E661CA6-4862-489B-B5B8-1AA72E41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PMNS · Potentials · Hamiltonian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Fluxes · Probabilities</a:t>
            </a:r>
          </a:p>
        </p:txBody>
      </p:sp>
      <p:sp>
        <p:nvSpPr>
          <p:cNvPr id="40" name="standard-model-title">
            <a:extLst xmlns:a="http://schemas.openxmlformats.org/drawingml/2006/main">
              <a:ext uri="{FF2B5EF4-FFF2-40B4-BE49-F238E27FC236}">
                <a16:creationId xmlns:a16="http://schemas.microsoft.com/office/drawing/2014/main" id="{85A4CADE-0A7B-49DA-BB12-FC6FAEEA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Standard Model</a:t>
            </a:r>
          </a:p>
        </p:txBody>
      </p:sp>
      <p:sp>
        <p:nvSpPr>
          <p:cNvPr id="41" name="standard-model-detail">
            <a:extLst xmlns:a="http://schemas.openxmlformats.org/drawingml/2006/main">
              <a:ext uri="{FF2B5EF4-FFF2-40B4-BE49-F238E27FC236}">
                <a16:creationId xmlns:a16="http://schemas.microsoft.com/office/drawing/2014/main" id="{8766279C-0427-417C-812F-AD7785D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Three-flavour mixing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Standard mass spectrum</a:t>
            </a:r>
          </a:p>
        </p:txBody>
      </p:sp>
      <p:sp>
        <p:nvSpPr>
          <p:cNvPr id="42" name="bsm-title">
            <a:extLst xmlns:a="http://schemas.openxmlformats.org/drawingml/2006/main">
              <a:ext uri="{FF2B5EF4-FFF2-40B4-BE49-F238E27FC236}">
                <a16:creationId xmlns:a16="http://schemas.microsoft.com/office/drawing/2014/main" id="{7C7165B3-EC2C-484F-8058-60D9EB4A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Beyond Standard Model</a:t>
            </a:r>
          </a:p>
        </p:txBody>
      </p:sp>
      <p:sp>
        <p:nvSpPr>
          <p:cNvPr id="43" name="bsm-detail">
            <a:extLst xmlns:a="http://schemas.openxmlformats.org/drawingml/2006/main">
              <a:ext uri="{FF2B5EF4-FFF2-40B4-BE49-F238E27FC236}">
                <a16:creationId xmlns:a16="http://schemas.microsoft.com/office/drawing/2014/main" id="{B7485E9F-D675-4236-901F-A4CBF557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NSI · Sterile · Majorana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Extended mass spectra</a:t>
            </a:r>
          </a:p>
        </p:txBody>
      </p:sp>
      <p:sp>
        <p:nvSpPr>
          <p:cNvPr id="44" name="config-title">
            <a:extLst xmlns:a="http://schemas.openxmlformats.org/drawingml/2006/main">
              <a:ext uri="{FF2B5EF4-FFF2-40B4-BE49-F238E27FC236}">
                <a16:creationId xmlns:a16="http://schemas.microsoft.com/office/drawing/2014/main" id="{088E0765-22E6-4EFB-8485-081E8BF0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Config</a:t>
            </a:r>
          </a:p>
        </p:txBody>
      </p:sp>
      <p:sp>
        <p:nvSpPr>
          <p:cNvPr id="45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F80AE25D-1C34-46C4-A8CC-2CECCB00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Defaults · Presets · Propagation</a:t>
            </a:r>
          </a:p>
        </p:txBody>
      </p:sp>
      <p:sp>
        <p:nvSpPr>
          <p:cNvPr id="46" name="utilities-title">
            <a:extLst xmlns:a="http://schemas.openxmlformats.org/drawingml/2006/main">
              <a:ext uri="{FF2B5EF4-FFF2-40B4-BE49-F238E27FC236}">
                <a16:creationId xmlns:a16="http://schemas.microsoft.com/office/drawing/2014/main" id="{82615B20-DC3E-487B-8905-2FC5BCC3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47" name="utilities-detail">
            <a:extLst xmlns:a="http://schemas.openxmlformats.org/drawingml/2006/main">
              <a:ext uri="{FF2B5EF4-FFF2-40B4-BE49-F238E27FC236}">
                <a16:creationId xmlns:a16="http://schemas.microsoft.com/office/drawing/2014/main" id="{699CDA4F-AE7B-4FFF-BDF8-C66FB0A0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Tensor types · Context · Math · I/O</a:t>
            </a:r>
          </a:p>
        </p:txBody>
      </p:sp>
      <p:sp>
        <p:nvSpPr>
          <p:cNvPr id="48" name="external-title">
            <a:extLst xmlns:a="http://schemas.openxmlformats.org/drawingml/2006/main">
              <a:ext uri="{FF2B5EF4-FFF2-40B4-BE49-F238E27FC236}">
                <a16:creationId xmlns:a16="http://schemas.microsoft.com/office/drawing/2014/main" id="{92AF4E73-97E0-4EBB-8ED6-8032B9E8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External data</a:t>
            </a:r>
          </a:p>
        </p:txBody>
      </p:sp>
      <p:sp>
        <p:nvSpPr>
          <p:cNvPr id="49" name="external-detail">
            <a:extLst xmlns:a="http://schemas.openxmlformats.org/drawingml/2006/main">
              <a:ext uri="{FF2B5EF4-FFF2-40B4-BE49-F238E27FC236}">
                <a16:creationId xmlns:a16="http://schemas.microsoft.com/office/drawing/2014/main" id="{45669731-392C-4D9A-A292-4DBF3A84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nuSQuIDS · MCEq · Honda · PyMSIS</a:t>
            </a:r>
          </a:p>
        </p:txBody>
      </p:sp>
      <p:sp>
        <p:nvSpPr>
          <p:cNvPr id="50" name="peanuts-title">
            <a:extLst xmlns:a="http://schemas.openxmlformats.org/drawingml/2006/main">
              <a:ext uri="{FF2B5EF4-FFF2-40B4-BE49-F238E27FC236}">
                <a16:creationId xmlns:a16="http://schemas.microsoft.com/office/drawing/2014/main" id="{37F567E5-BA4D-4D97-913C-8CA3C065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Peanuts</a:t>
            </a:r>
          </a:p>
        </p:txBody>
      </p:sp>
      <p:sp>
        <p:nvSpPr>
          <p:cNvPr id="51" name="peanuts-detail">
            <a:extLst xmlns:a="http://schemas.openxmlformats.org/drawingml/2006/main">
              <a:ext uri="{FF2B5EF4-FFF2-40B4-BE49-F238E27FC236}">
                <a16:creationId xmlns:a16="http://schemas.microsoft.com/office/drawing/2014/main" id="{42D24066-A290-48BD-8D0F-B027AD7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Legacy validation and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2119261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2026-08-26T18:22:38.1840000Z</dcterms:created>
  <dcterms:modified xsi:type="dcterms:W3CDTF">2026-08-26T18:22:38.1840000Z</dcterms:modified>
</coreProperties>
</file>