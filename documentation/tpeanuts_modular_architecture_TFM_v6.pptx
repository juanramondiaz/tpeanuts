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23f07232274553" /><Relationship Type="http://schemas.openxmlformats.org/officeDocument/2006/relationships/extended-properties" Target="/docProps/app.xml" Id="R3770fbe9478e4431" /><Relationship Type="http://schemas.openxmlformats.org/officeDocument/2006/relationships/officeDocument" Target="/ppt/presentation.xml" Id="Rc48c259aab0c41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5b1f10ddc4c4d"/>
  </p:sldMasterIdLst>
  <p:notesMasterIdLst>
    <p:notesMasterId xmlns:r="http://schemas.openxmlformats.org/officeDocument/2006/relationships" r:id="R1551fe3a50a14b79"/>
  </p:notesMasterIdLst>
  <p:sldIdLst>
    <p:sldId xmlns:r="http://schemas.openxmlformats.org/officeDocument/2006/relationships" id="256" r:id="Rb9ae1ebb97a94962"/>
    <p:sldId xmlns:r="http://schemas.openxmlformats.org/officeDocument/2006/relationships" id="257" r:id="R9a9c419cef00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ca0611ccc4602" /><Relationship Type="http://schemas.openxmlformats.org/officeDocument/2006/relationships/slideMaster" Target="/ppt/slideMasters/slideMaster1.xml" Id="Rcb05b1f10ddc4c4d" /><Relationship Type="http://schemas.openxmlformats.org/officeDocument/2006/relationships/notesMaster" Target="/ppt/notesMasters/notesMaster1.xml" Id="R1551fe3a50a14b79" /><Relationship Type="http://schemas.openxmlformats.org/officeDocument/2006/relationships/presProps" Target="/ppt/presProps.xml" Id="R46163dae190c45a6" /><Relationship Type="http://schemas.openxmlformats.org/officeDocument/2006/relationships/tableStyles" Target="/ppt/tableStyles.xml" Id="R6df6a4eb32284c63" /><Relationship Type="http://schemas.openxmlformats.org/officeDocument/2006/relationships/slide" Target="/ppt/slides/slide1.xml" Id="Rb9ae1ebb97a94962" /><Relationship Type="http://schemas.openxmlformats.org/officeDocument/2006/relationships/slide" Target="/ppt/slides/slide2.xml" Id="R9a9c419cef00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6aa5edc53842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b22264f5d840b8" /><Relationship Type="http://schemas.openxmlformats.org/officeDocument/2006/relationships/notesMaster" Target="/ppt/notesMasters/notesMaster1.xml" Id="Rfbd65517827d49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84826b25140de" /><Relationship Type="http://schemas.openxmlformats.org/officeDocument/2006/relationships/notesMaster" Target="/ppt/notesMasters/notesMaster1.xml" Id="R807dbe7c2ec44b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6b902eaeb44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fa9f95e83241a3" /><Relationship Type="http://schemas.openxmlformats.org/officeDocument/2006/relationships/slideLayout" Target="/ppt/slideLayouts/slideLayout1.xml" Id="R3e05da10901440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05da10901440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8959e05374dbb" /><Relationship Type="http://schemas.openxmlformats.org/officeDocument/2006/relationships/notesSlide" Target="/ppt/notesSlides/notesSlide1.xml" Id="Rea1b8520dc384c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eb57b39ae4be0" /><Relationship Type="http://schemas.openxmlformats.org/officeDocument/2006/relationships/notesSlide" Target="/ppt/notesSlides/notesSlide2.xml" Id="Ra6e3c3bb577f45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1F40929-E328-4F62-AC2C-3CE1F7BF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MASTER'S THESIS DEFENSE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01374D6-D172-4171-AD11-B42AB985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790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Tpeanuts modular architecture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009607D-E609-4887-A780-11EE8E45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4A4A4A"/>
                </a:solidFill>
              </a:defRPr>
            </a:pPr>
            <a:r>
              <a:rPr sz="1875">
                <a:solidFill>
                  <a:srgbClr val="4A4A4A"/>
                </a:solidFill>
              </a:rPr>
              <a:t>A layered, differentiable framework for neutrino oscillation and flux propagation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21E61A7-B1B7-4663-9F30-C5FE9F43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accent-strong">
            <a:extLst xmlns:a="http://schemas.openxmlformats.org/drawingml/2006/main">
              <a:ext uri="{FF2B5EF4-FFF2-40B4-BE49-F238E27FC236}">
                <a16:creationId xmlns:a16="http://schemas.microsoft.com/office/drawing/2014/main" id="{682D36F1-C0AF-4390-BA98-ED3CB2AC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5E071319-07A1-4A89-AF26-33B6CDEF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</a:defRPr>
            </a:pPr>
            <a:r>
              <a:rPr sz="1275">
                <a:solidFill>
                  <a:srgbClr val="666666"/>
                </a:solidFill>
              </a:rPr>
              <a:t>Torch-based scientific software · Python</a:t>
            </a:r>
          </a:p>
        </p:txBody>
      </p:sp>
    </p:spTree>
    <p:extLst>
      <p:ext uri="{BB962C8B-B14F-4D97-AF65-F5344CB8AC3E}">
        <p14:creationId xmlns:p14="http://schemas.microsoft.com/office/powerpoint/2010/main" val="1244383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62E3B800-DE16-44AF-9254-C270C3B3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</a:rPr>
              <a:t>Tpeanuts keeps scientific concerns modular</a:t>
            </a:r>
          </a:p>
        </p:txBody>
      </p:sp>
      <p:sp>
        <p:nvSpPr>
          <p:cNvPr id="2" name="pipelines-base">
            <a:extLst xmlns:a="http://schemas.openxmlformats.org/drawingml/2006/main">
              <a:ext uri="{FF2B5EF4-FFF2-40B4-BE49-F238E27FC236}">
                <a16:creationId xmlns:a16="http://schemas.microsoft.com/office/drawing/2014/main" id="{62CFCC3E-2020-4E54-BDDA-019D3B75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3" name="inference-base">
            <a:extLst xmlns:a="http://schemas.openxmlformats.org/drawingml/2006/main">
              <a:ext uri="{FF2B5EF4-FFF2-40B4-BE49-F238E27FC236}">
                <a16:creationId xmlns:a16="http://schemas.microsoft.com/office/drawing/2014/main" id="{DCAE54AD-C14D-4378-B260-3E3C3DA1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381125"/>
            <a:ext cx="3333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5FC"/>
          </a:solidFill>
          <a:ln xmlns:a="http://schemas.openxmlformats.org/drawingml/2006/main" w="11430">
            <a:solidFill>
              <a:srgbClr val="6DCBF4"/>
            </a:solidFill>
            <a:prstDash val="solid"/>
          </a:ln>
        </p:spPr>
      </p:sp>
      <p:sp>
        <p:nvSpPr>
          <p:cNvPr id="4" name="sources-base">
            <a:extLst xmlns:a="http://schemas.openxmlformats.org/drawingml/2006/main">
              <a:ext uri="{FF2B5EF4-FFF2-40B4-BE49-F238E27FC236}">
                <a16:creationId xmlns:a16="http://schemas.microsoft.com/office/drawing/2014/main" id="{EA23AC37-FC32-4B18-A037-443D5A56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5" name="media-base">
            <a:extLst xmlns:a="http://schemas.openxmlformats.org/drawingml/2006/main">
              <a:ext uri="{FF2B5EF4-FFF2-40B4-BE49-F238E27FC236}">
                <a16:creationId xmlns:a16="http://schemas.microsoft.com/office/drawing/2014/main" id="{CAEAA83C-7562-4171-B8E8-AEC8D91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6" name="detectors-base">
            <a:extLst xmlns:a="http://schemas.openxmlformats.org/drawingml/2006/main">
              <a:ext uri="{FF2B5EF4-FFF2-40B4-BE49-F238E27FC236}">
                <a16:creationId xmlns:a16="http://schemas.microsoft.com/office/drawing/2014/main" id="{69C97A72-0FA2-4D09-A8E3-AD783C66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7" name="core-container">
            <a:extLst xmlns:a="http://schemas.openxmlformats.org/drawingml/2006/main">
              <a:ext uri="{FF2B5EF4-FFF2-40B4-BE49-F238E27FC236}">
                <a16:creationId xmlns:a16="http://schemas.microsoft.com/office/drawing/2014/main" id="{3CA34EBD-828D-4B75-8886-D5C29193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8" name="source-core-anchor">
            <a:extLst xmlns:a="http://schemas.openxmlformats.org/drawingml/2006/main">
              <a:ext uri="{FF2B5EF4-FFF2-40B4-BE49-F238E27FC236}">
                <a16:creationId xmlns:a16="http://schemas.microsoft.com/office/drawing/2014/main" id="{27DE57F4-0791-425A-B067-7BB72828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media-core-anchor">
            <a:extLst xmlns:a="http://schemas.openxmlformats.org/drawingml/2006/main">
              <a:ext uri="{FF2B5EF4-FFF2-40B4-BE49-F238E27FC236}">
                <a16:creationId xmlns:a16="http://schemas.microsoft.com/office/drawing/2014/main" id="{2B52F05F-4CD8-448E-9AE6-2FBF66B7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38575"/>
            <a:ext cx="28575" cy="2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common-base">
            <a:extLst xmlns:a="http://schemas.openxmlformats.org/drawingml/2006/main">
              <a:ext uri="{FF2B5EF4-FFF2-40B4-BE49-F238E27FC236}">
                <a16:creationId xmlns:a16="http://schemas.microsoft.com/office/drawing/2014/main" id="{E48CB04D-F7CD-444A-99CC-D587E537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1" name="standard-model-base">
            <a:extLst xmlns:a="http://schemas.openxmlformats.org/drawingml/2006/main">
              <a:ext uri="{FF2B5EF4-FFF2-40B4-BE49-F238E27FC236}">
                <a16:creationId xmlns:a16="http://schemas.microsoft.com/office/drawing/2014/main" id="{60AC3963-439D-4E68-9371-C4488952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2" name="bsm-base">
            <a:extLst xmlns:a="http://schemas.openxmlformats.org/drawingml/2006/main">
              <a:ext uri="{FF2B5EF4-FFF2-40B4-BE49-F238E27FC236}">
                <a16:creationId xmlns:a16="http://schemas.microsoft.com/office/drawing/2014/main" id="{B4F2A89E-3846-4FB9-9D9A-283B881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CFF"/>
          </a:solidFill>
          <a:ln xmlns:a="http://schemas.openxmlformats.org/drawingml/2006/main" w="11430">
            <a:solidFill>
              <a:srgbClr val="3D8DFF"/>
            </a:solidFill>
            <a:prstDash val="solid"/>
          </a:ln>
        </p:spPr>
      </p:sp>
      <p:sp>
        <p:nvSpPr>
          <p:cNvPr id="13" name="config-base">
            <a:extLst xmlns:a="http://schemas.openxmlformats.org/drawingml/2006/main">
              <a:ext uri="{FF2B5EF4-FFF2-40B4-BE49-F238E27FC236}">
                <a16:creationId xmlns:a16="http://schemas.microsoft.com/office/drawing/2014/main" id="{8C77F64C-4E68-4EC8-ABDB-77134061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4" name="utilities-base">
            <a:extLst xmlns:a="http://schemas.openxmlformats.org/drawingml/2006/main">
              <a:ext uri="{FF2B5EF4-FFF2-40B4-BE49-F238E27FC236}">
                <a16:creationId xmlns:a16="http://schemas.microsoft.com/office/drawing/2014/main" id="{ACBBD9CD-63A5-4D2D-88EC-A7086B34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5" name="external-base">
            <a:extLst xmlns:a="http://schemas.openxmlformats.org/drawingml/2006/main">
              <a:ext uri="{FF2B5EF4-FFF2-40B4-BE49-F238E27FC236}">
                <a16:creationId xmlns:a16="http://schemas.microsoft.com/office/drawing/2014/main" id="{D92980FC-1F95-4DC1-B3D2-0D06302C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sp>
        <p:nvSpPr>
          <p:cNvPr id="16" name="peanuts-base">
            <a:extLst xmlns:a="http://schemas.openxmlformats.org/drawingml/2006/main">
              <a:ext uri="{FF2B5EF4-FFF2-40B4-BE49-F238E27FC236}">
                <a16:creationId xmlns:a16="http://schemas.microsoft.com/office/drawing/2014/main" id="{64CBB281-A4C7-4D99-9DED-C6C5AB05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38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11430">
            <a:solidFill>
              <a:srgbClr val="B8BCC4"/>
            </a:solidFill>
            <a:prstDash val="solid"/>
          </a:ln>
        </p:spPr>
      </p:sp>
      <p:cxnSp>
        <p:nvCxnSpPr>
          <p:cNvPr id="6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809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143875" y="2143125"/>
            <a:ext cx="1238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91000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1" name=""/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809875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cxnSp>
        <p:nvCxnSpPr>
          <p:cNvPr id="72" name=""/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581400"/>
            <a:ext cx="4763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A7A7A"/>
            </a:solidFill>
            <a:prstDash val="solid"/>
            <a:tailEnd type="arrow" w="sm" len="sm"/>
          </a:ln>
        </p:spPr>
      </p:cxnSp>
      <p:sp>
        <p:nvSpPr>
          <p:cNvPr id="23" name="application-layer">
            <a:extLst xmlns:a="http://schemas.openxmlformats.org/drawingml/2006/main">
              <a:ext uri="{FF2B5EF4-FFF2-40B4-BE49-F238E27FC236}">
                <a16:creationId xmlns:a16="http://schemas.microsoft.com/office/drawing/2014/main" id="{430BB997-B166-4E45-BC3D-F0ECD6CA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2001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APPLICATION LAYER</a:t>
            </a:r>
          </a:p>
        </p:txBody>
      </p:sp>
      <p:sp>
        <p:nvSpPr>
          <p:cNvPr id="24" name="domain-layer">
            <a:extLst xmlns:a="http://schemas.openxmlformats.org/drawingml/2006/main">
              <a:ext uri="{FF2B5EF4-FFF2-40B4-BE49-F238E27FC236}">
                <a16:creationId xmlns:a16="http://schemas.microsoft.com/office/drawing/2014/main" id="{30E42207-C0E9-4B9C-ACD3-32BB4B3E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DOMAIN LAYER</a:t>
            </a:r>
          </a:p>
        </p:txBody>
      </p:sp>
      <p:sp>
        <p:nvSpPr>
          <p:cNvPr id="25" name="core-layer">
            <a:extLst xmlns:a="http://schemas.openxmlformats.org/drawingml/2006/main">
              <a:ext uri="{FF2B5EF4-FFF2-40B4-BE49-F238E27FC236}">
                <a16:creationId xmlns:a16="http://schemas.microsoft.com/office/drawing/2014/main" id="{20A77AD5-BD1C-48BB-85C0-89B0694A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05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2659A"/>
                </a:solidFill>
              </a:defRPr>
            </a:pPr>
            <a:r>
              <a:rPr sz="1125" b="1">
                <a:solidFill>
                  <a:srgbClr val="12659A"/>
                </a:solidFill>
              </a:rPr>
              <a:t>CORE</a:t>
            </a:r>
          </a:p>
        </p:txBody>
      </p:sp>
      <p:sp>
        <p:nvSpPr>
          <p:cNvPr id="26" name="tools-layer">
            <a:extLst xmlns:a="http://schemas.openxmlformats.org/drawingml/2006/main">
              <a:ext uri="{FF2B5EF4-FFF2-40B4-BE49-F238E27FC236}">
                <a16:creationId xmlns:a16="http://schemas.microsoft.com/office/drawing/2014/main" id="{6DB500A8-535E-48CB-8897-4687CE3A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TOOLS AND UTILITIES</a:t>
            </a:r>
          </a:p>
        </p:txBody>
      </p:sp>
      <p:sp>
        <p:nvSpPr>
          <p:cNvPr id="27" name="pipelines-title">
            <a:extLst xmlns:a="http://schemas.openxmlformats.org/drawingml/2006/main">
              <a:ext uri="{FF2B5EF4-FFF2-40B4-BE49-F238E27FC236}">
                <a16:creationId xmlns:a16="http://schemas.microsoft.com/office/drawing/2014/main" id="{9231476D-BE0C-4D74-824F-0FF4E175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Propagation pipelines</a:t>
            </a:r>
          </a:p>
        </p:txBody>
      </p:sp>
      <p:sp>
        <p:nvSpPr>
          <p:cNvPr id="28" name="pipelines-detail">
            <a:extLst xmlns:a="http://schemas.openxmlformats.org/drawingml/2006/main">
              <a:ext uri="{FF2B5EF4-FFF2-40B4-BE49-F238E27FC236}">
                <a16:creationId xmlns:a16="http://schemas.microsoft.com/office/drawing/2014/main" id="{993A0775-C04A-4E53-888B-104B54AE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End-to-end solar and atmospheric workflows</a:t>
            </a:r>
          </a:p>
        </p:txBody>
      </p:sp>
      <p:sp>
        <p:nvSpPr>
          <p:cNvPr id="29" name="inference-title">
            <a:extLst xmlns:a="http://schemas.openxmlformats.org/drawingml/2006/main">
              <a:ext uri="{FF2B5EF4-FFF2-40B4-BE49-F238E27FC236}">
                <a16:creationId xmlns:a16="http://schemas.microsoft.com/office/drawing/2014/main" id="{C8E15424-03CC-4BBC-AEE9-71D4C9C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0495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Inference</a:t>
            </a:r>
          </a:p>
        </p:txBody>
      </p:sp>
      <p:sp>
        <p:nvSpPr>
          <p:cNvPr id="30" name="inference-detail">
            <a:extLst xmlns:a="http://schemas.openxmlformats.org/drawingml/2006/main">
              <a:ext uri="{FF2B5EF4-FFF2-40B4-BE49-F238E27FC236}">
                <a16:creationId xmlns:a16="http://schemas.microsoft.com/office/drawing/2014/main" id="{71EC9015-B438-478C-87F0-D9DAE04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383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Differentiable models · Likelihoods · Fits</a:t>
            </a:r>
          </a:p>
        </p:txBody>
      </p:sp>
      <p:sp>
        <p:nvSpPr>
          <p:cNvPr id="31" name="sources-title">
            <a:extLst xmlns:a="http://schemas.openxmlformats.org/drawingml/2006/main">
              <a:ext uri="{FF2B5EF4-FFF2-40B4-BE49-F238E27FC236}">
                <a16:creationId xmlns:a16="http://schemas.microsoft.com/office/drawing/2014/main" id="{19EFCBB5-68C4-4F5E-BA0F-BED8C1F6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Neutrino sources</a:t>
            </a:r>
          </a:p>
        </p:txBody>
      </p:sp>
      <p:sp>
        <p:nvSpPr>
          <p:cNvPr id="32" name="sources-detail">
            <a:extLst xmlns:a="http://schemas.openxmlformats.org/drawingml/2006/main">
              <a:ext uri="{FF2B5EF4-FFF2-40B4-BE49-F238E27FC236}">
                <a16:creationId xmlns:a16="http://schemas.microsoft.com/office/drawing/2014/main" id="{51F7F4E5-8257-423F-A3C1-6B3C860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Solar · Atmospheric · Reactor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Production spectra and fluxes</a:t>
            </a:r>
          </a:p>
        </p:txBody>
      </p:sp>
      <p:sp>
        <p:nvSpPr>
          <p:cNvPr id="33" name="media-title">
            <a:extLst xmlns:a="http://schemas.openxmlformats.org/drawingml/2006/main">
              <a:ext uri="{FF2B5EF4-FFF2-40B4-BE49-F238E27FC236}">
                <a16:creationId xmlns:a16="http://schemas.microsoft.com/office/drawing/2014/main" id="{95E71137-16C4-41BA-9134-411AF0D8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Propagation media</a:t>
            </a:r>
          </a:p>
        </p:txBody>
      </p:sp>
      <p:sp>
        <p:nvSpPr>
          <p:cNvPr id="34" name="media-detail">
            <a:extLst xmlns:a="http://schemas.openxmlformats.org/drawingml/2006/main">
              <a:ext uri="{FF2B5EF4-FFF2-40B4-BE49-F238E27FC236}">
                <a16:creationId xmlns:a16="http://schemas.microsoft.com/office/drawing/2014/main" id="{17DC6C3B-BA3C-4B6D-B9B7-7E30F16A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Vacuum · Solar · Earth · Atmosphere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Geometry, density and evolution</a:t>
            </a:r>
          </a:p>
        </p:txBody>
      </p:sp>
      <p:sp>
        <p:nvSpPr>
          <p:cNvPr id="35" name="detectors-title">
            <a:extLst xmlns:a="http://schemas.openxmlformats.org/drawingml/2006/main">
              <a:ext uri="{FF2B5EF4-FFF2-40B4-BE49-F238E27FC236}">
                <a16:creationId xmlns:a16="http://schemas.microsoft.com/office/drawing/2014/main" id="{E8F95EDD-7FB5-4941-9014-46CE540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90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Detector models</a:t>
            </a:r>
          </a:p>
        </p:txBody>
      </p:sp>
      <p:sp>
        <p:nvSpPr>
          <p:cNvPr id="36" name="detectors-detail">
            <a:extLst xmlns:a="http://schemas.openxmlformats.org/drawingml/2006/main">
              <a:ext uri="{FF2B5EF4-FFF2-40B4-BE49-F238E27FC236}">
                <a16:creationId xmlns:a16="http://schemas.microsoft.com/office/drawing/2014/main" id="{F3AFB314-0AE3-47E4-8F26-7B012A9E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Responses · Observables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SNO · Borexino · IceCube</a:t>
            </a:r>
          </a:p>
        </p:txBody>
      </p:sp>
      <p:sp>
        <p:nvSpPr>
          <p:cNvPr id="37" name="common-title">
            <a:extLst xmlns:a="http://schemas.openxmlformats.org/drawingml/2006/main">
              <a:ext uri="{FF2B5EF4-FFF2-40B4-BE49-F238E27FC236}">
                <a16:creationId xmlns:a16="http://schemas.microsoft.com/office/drawing/2014/main" id="{BBC04ACD-9882-4691-8DD4-CEBE3FC7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Common</a:t>
            </a:r>
          </a:p>
        </p:txBody>
      </p:sp>
      <p:sp>
        <p:nvSpPr>
          <p:cNvPr id="38" name="common-detail">
            <a:extLst xmlns:a="http://schemas.openxmlformats.org/drawingml/2006/main">
              <a:ext uri="{FF2B5EF4-FFF2-40B4-BE49-F238E27FC236}">
                <a16:creationId xmlns:a16="http://schemas.microsoft.com/office/drawing/2014/main" id="{454C3A20-E3DB-473D-92FE-FE411F8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PMNS · Potentials · Hamiltonian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Fluxes · Probabilities</a:t>
            </a:r>
          </a:p>
        </p:txBody>
      </p:sp>
      <p:sp>
        <p:nvSpPr>
          <p:cNvPr id="39" name="standard-model-title">
            <a:extLst xmlns:a="http://schemas.openxmlformats.org/drawingml/2006/main">
              <a:ext uri="{FF2B5EF4-FFF2-40B4-BE49-F238E27FC236}">
                <a16:creationId xmlns:a16="http://schemas.microsoft.com/office/drawing/2014/main" id="{CF3D419E-762A-44FF-BC6A-898A08B3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Standard Model</a:t>
            </a:r>
          </a:p>
        </p:txBody>
      </p:sp>
      <p:sp>
        <p:nvSpPr>
          <p:cNvPr id="40" name="standard-model-detail">
            <a:extLst xmlns:a="http://schemas.openxmlformats.org/drawingml/2006/main">
              <a:ext uri="{FF2B5EF4-FFF2-40B4-BE49-F238E27FC236}">
                <a16:creationId xmlns:a16="http://schemas.microsoft.com/office/drawing/2014/main" id="{8517578D-01D0-4E46-BF38-6D459269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Three-flavour mixing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Standard mass spectrum</a:t>
            </a:r>
          </a:p>
        </p:txBody>
      </p:sp>
      <p:sp>
        <p:nvSpPr>
          <p:cNvPr id="41" name="bsm-title">
            <a:extLst xmlns:a="http://schemas.openxmlformats.org/drawingml/2006/main">
              <a:ext uri="{FF2B5EF4-FFF2-40B4-BE49-F238E27FC236}">
                <a16:creationId xmlns:a16="http://schemas.microsoft.com/office/drawing/2014/main" id="{F2CFC8E5-BBC4-4EA0-B74C-70CF5F0E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659A"/>
                </a:solidFill>
              </a:defRPr>
            </a:pPr>
            <a:r>
              <a:rPr sz="1650" b="1">
                <a:solidFill>
                  <a:srgbClr val="12659A"/>
                </a:solidFill>
              </a:rPr>
              <a:t>Beyond Standard Model</a:t>
            </a:r>
          </a:p>
        </p:txBody>
      </p:sp>
      <p:sp>
        <p:nvSpPr>
          <p:cNvPr id="42" name="bsm-detail">
            <a:extLst xmlns:a="http://schemas.openxmlformats.org/drawingml/2006/main">
              <a:ext uri="{FF2B5EF4-FFF2-40B4-BE49-F238E27FC236}">
                <a16:creationId xmlns:a16="http://schemas.microsoft.com/office/drawing/2014/main" id="{5540C9B2-A57D-421F-AD6C-7E43213D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48200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NSI · Sterile · Majorana</a:t>
            </a:r>
          </a:p>
          <a:p xmlns:a="http://schemas.openxmlformats.org/drawingml/2006/main">
            <a:pPr>
              <a:defRPr sz="1200">
                <a:solidFill>
                  <a:srgbClr val="4A4A4A"/>
                </a:solidFill>
              </a:defRPr>
            </a:pPr>
            <a:r>
              <a:rPr sz="1200">
                <a:solidFill>
                  <a:srgbClr val="4A4A4A"/>
                </a:solidFill>
              </a:rPr>
              <a:t>Extended mass spectra</a:t>
            </a:r>
          </a:p>
        </p:txBody>
      </p:sp>
      <p:sp>
        <p:nvSpPr>
          <p:cNvPr id="43" name="config-title">
            <a:extLst xmlns:a="http://schemas.openxmlformats.org/drawingml/2006/main">
              <a:ext uri="{FF2B5EF4-FFF2-40B4-BE49-F238E27FC236}">
                <a16:creationId xmlns:a16="http://schemas.microsoft.com/office/drawing/2014/main" id="{D305231C-6B82-4DDA-B45E-CB028C65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Config</a:t>
            </a:r>
          </a:p>
        </p:txBody>
      </p:sp>
      <p:sp>
        <p:nvSpPr>
          <p:cNvPr id="44" name="config-detail">
            <a:extLst xmlns:a="http://schemas.openxmlformats.org/drawingml/2006/main">
              <a:ext uri="{FF2B5EF4-FFF2-40B4-BE49-F238E27FC236}">
                <a16:creationId xmlns:a16="http://schemas.microsoft.com/office/drawing/2014/main" id="{9825F989-C519-43AF-ACEE-AF95F8EC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Defaults · Presets · Propagation</a:t>
            </a:r>
          </a:p>
        </p:txBody>
      </p:sp>
      <p:sp>
        <p:nvSpPr>
          <p:cNvPr id="45" name="utilities-title">
            <a:extLst xmlns:a="http://schemas.openxmlformats.org/drawingml/2006/main">
              <a:ext uri="{FF2B5EF4-FFF2-40B4-BE49-F238E27FC236}">
                <a16:creationId xmlns:a16="http://schemas.microsoft.com/office/drawing/2014/main" id="{2BC99D94-3C42-4989-8DCC-E755DD3D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Utilities</a:t>
            </a:r>
          </a:p>
        </p:txBody>
      </p:sp>
      <p:sp>
        <p:nvSpPr>
          <p:cNvPr id="46" name="utilities-detail">
            <a:extLst xmlns:a="http://schemas.openxmlformats.org/drawingml/2006/main">
              <a:ext uri="{FF2B5EF4-FFF2-40B4-BE49-F238E27FC236}">
                <a16:creationId xmlns:a16="http://schemas.microsoft.com/office/drawing/2014/main" id="{13DBB810-42DB-4A7D-8CEC-EF6116DD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Tensor types · Context · Math · I/O</a:t>
            </a:r>
          </a:p>
        </p:txBody>
      </p:sp>
      <p:sp>
        <p:nvSpPr>
          <p:cNvPr id="47" name="external-title">
            <a:extLst xmlns:a="http://schemas.openxmlformats.org/drawingml/2006/main">
              <a:ext uri="{FF2B5EF4-FFF2-40B4-BE49-F238E27FC236}">
                <a16:creationId xmlns:a16="http://schemas.microsoft.com/office/drawing/2014/main" id="{8D3A6891-C648-4F84-B4C5-4D241236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External data</a:t>
            </a:r>
          </a:p>
        </p:txBody>
      </p:sp>
      <p:sp>
        <p:nvSpPr>
          <p:cNvPr id="48" name="external-detail">
            <a:extLst xmlns:a="http://schemas.openxmlformats.org/drawingml/2006/main">
              <a:ext uri="{FF2B5EF4-FFF2-40B4-BE49-F238E27FC236}">
                <a16:creationId xmlns:a16="http://schemas.microsoft.com/office/drawing/2014/main" id="{6D818E97-C13E-4F9F-9D92-691EEBC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nuSQuIDS · MCEq · Honda · PyMSIS</a:t>
            </a:r>
          </a:p>
        </p:txBody>
      </p:sp>
      <p:sp>
        <p:nvSpPr>
          <p:cNvPr id="49" name="peanuts-title">
            <a:extLst xmlns:a="http://schemas.openxmlformats.org/drawingml/2006/main">
              <a:ext uri="{FF2B5EF4-FFF2-40B4-BE49-F238E27FC236}">
                <a16:creationId xmlns:a16="http://schemas.microsoft.com/office/drawing/2014/main" id="{B172AA9D-A11C-463E-8D23-9A70BF3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69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Peanuts</a:t>
            </a:r>
          </a:p>
        </p:txBody>
      </p:sp>
      <p:sp>
        <p:nvSpPr>
          <p:cNvPr id="50" name="peanuts-detail">
            <a:extLst xmlns:a="http://schemas.openxmlformats.org/drawingml/2006/main">
              <a:ext uri="{FF2B5EF4-FFF2-40B4-BE49-F238E27FC236}">
                <a16:creationId xmlns:a16="http://schemas.microsoft.com/office/drawing/2014/main" id="{CBFD97D5-78AC-4B7E-A172-F2AEE862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943600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Legacy validation and compatibility</a:t>
            </a:r>
          </a:p>
        </p:txBody>
      </p:sp>
    </p:spTree>
    <p:extLst>
      <p:ext uri="{BB962C8B-B14F-4D97-AF65-F5344CB8AC3E}">
        <p14:creationId xmlns:p14="http://schemas.microsoft.com/office/powerpoint/2010/main" val="360701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2026-08-28T18:49:09.3300000Z</dcterms:created>
  <dcterms:modified xsi:type="dcterms:W3CDTF">2026-08-28T18:49:09.3300000Z</dcterms:modified>
</coreProperties>
</file>